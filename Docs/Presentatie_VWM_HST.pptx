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82" r:id="rId3"/>
    <p:sldId id="283" r:id="rId4"/>
    <p:sldId id="284" r:id="rId5"/>
    <p:sldId id="281" r:id="rId6"/>
    <p:sldId id="285" r:id="rId7"/>
    <p:sldId id="291" r:id="rId8"/>
    <p:sldId id="286" r:id="rId9"/>
    <p:sldId id="287" r:id="rId10"/>
    <p:sldId id="288" r:id="rId11"/>
    <p:sldId id="289" r:id="rId12"/>
    <p:sldId id="290" r:id="rId13"/>
    <p:sldId id="292" r:id="rId14"/>
    <p:sldId id="293" r:id="rId15"/>
    <p:sldId id="294" r:id="rId16"/>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4" d="100"/>
          <a:sy n="154" d="100"/>
        </p:scale>
        <p:origin x="53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B600CB-A42E-49DB-AAFE-E92C7A8AD53D}" type="datetimeFigureOut">
              <a:rPr lang="nl-NL" smtClean="0"/>
              <a:t>4-5-2023</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AC1BA2-71BD-4782-9C4D-EF4200983433}" type="slidenum">
              <a:rPr lang="nl-NL" smtClean="0"/>
              <a:t>‹nr.›</a:t>
            </a:fld>
            <a:endParaRPr lang="nl-NL"/>
          </a:p>
        </p:txBody>
      </p:sp>
    </p:spTree>
    <p:extLst>
      <p:ext uri="{BB962C8B-B14F-4D97-AF65-F5344CB8AC3E}">
        <p14:creationId xmlns:p14="http://schemas.microsoft.com/office/powerpoint/2010/main" val="2044847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pagina">
    <p:bg>
      <p:bgPr>
        <a:solidFill>
          <a:schemeClr val="bg1"/>
        </a:solidFill>
        <a:effectLst/>
      </p:bgPr>
    </p:bg>
    <p:spTree>
      <p:nvGrpSpPr>
        <p:cNvPr id="1" name=""/>
        <p:cNvGrpSpPr/>
        <p:nvPr/>
      </p:nvGrpSpPr>
      <p:grpSpPr>
        <a:xfrm>
          <a:off x="0" y="0"/>
          <a:ext cx="0" cy="0"/>
          <a:chOff x="0" y="0"/>
          <a:chExt cx="0" cy="0"/>
        </a:xfrm>
      </p:grpSpPr>
      <p:sp>
        <p:nvSpPr>
          <p:cNvPr id="8" name="Rechthoek 7"/>
          <p:cNvSpPr/>
          <p:nvPr/>
        </p:nvSpPr>
        <p:spPr>
          <a:xfrm>
            <a:off x="0" y="5949280"/>
            <a:ext cx="12192000" cy="908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a:p>
        </p:txBody>
      </p:sp>
      <p:sp>
        <p:nvSpPr>
          <p:cNvPr id="11" name="Rectangle 2"/>
          <p:cNvSpPr>
            <a:spLocks noGrp="1" noChangeArrowheads="1"/>
          </p:cNvSpPr>
          <p:nvPr>
            <p:ph type="ctrTitle"/>
          </p:nvPr>
        </p:nvSpPr>
        <p:spPr>
          <a:xfrm>
            <a:off x="0" y="1988840"/>
            <a:ext cx="7632171" cy="2160885"/>
          </a:xfrm>
          <a:solidFill>
            <a:schemeClr val="bg1"/>
          </a:solidFill>
          <a:ln>
            <a:noFill/>
            <a:miter lim="800000"/>
            <a:headEnd/>
            <a:tailEnd/>
          </a:ln>
          <a:effectLst>
            <a:outerShdw blurRad="635000" dist="254000" dir="5400000" algn="ctr" rotWithShape="0">
              <a:srgbClr val="D9E3ED"/>
            </a:outerShdw>
          </a:effectLst>
        </p:spPr>
        <p:txBody>
          <a:bodyPr lIns="540000" tIns="90000" bIns="90000"/>
          <a:lstStyle>
            <a:lvl1pPr algn="l">
              <a:defRPr/>
            </a:lvl1pPr>
          </a:lstStyle>
          <a:p>
            <a:pPr lvl="0"/>
            <a:r>
              <a:rPr lang="nl-NL" altLang="nl-NL" noProof="0"/>
              <a:t>Klik om de stijl te bewerken</a:t>
            </a:r>
            <a:endParaRPr lang="nl-NL" altLang="nl-NL" noProof="0" dirty="0"/>
          </a:p>
        </p:txBody>
      </p:sp>
      <p:sp>
        <p:nvSpPr>
          <p:cNvPr id="12" name="Rectangle 3"/>
          <p:cNvSpPr>
            <a:spLocks noGrp="1" noChangeArrowheads="1"/>
          </p:cNvSpPr>
          <p:nvPr>
            <p:ph type="subTitle" idx="1"/>
          </p:nvPr>
        </p:nvSpPr>
        <p:spPr>
          <a:xfrm>
            <a:off x="7632172" y="4149726"/>
            <a:ext cx="4559829" cy="1679541"/>
          </a:xfrm>
          <a:solidFill>
            <a:srgbClr val="004682"/>
          </a:solidFill>
        </p:spPr>
        <p:txBody>
          <a:bodyPr lIns="180000" tIns="90000" bIns="90000"/>
          <a:lstStyle>
            <a:lvl1pPr marL="0" indent="0">
              <a:buFont typeface="Wingdings" pitchFamily="2" charset="2"/>
              <a:buNone/>
              <a:defRPr sz="3200">
                <a:solidFill>
                  <a:schemeClr val="bg1"/>
                </a:solidFill>
              </a:defRPr>
            </a:lvl1pPr>
          </a:lstStyle>
          <a:p>
            <a:pPr lvl="0"/>
            <a:r>
              <a:rPr lang="nl-NL" altLang="nl-NL" noProof="0"/>
              <a:t>Klik om de ondertitelstijl van het model te bewerken</a:t>
            </a:r>
            <a:endParaRPr lang="nl-NL" altLang="nl-NL" noProof="0" dirty="0"/>
          </a:p>
        </p:txBody>
      </p:sp>
      <p:pic>
        <p:nvPicPr>
          <p:cNvPr id="9" name="Picture 13"/>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197351" y="1194"/>
            <a:ext cx="3814232" cy="1908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4"/>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197351" y="5842398"/>
            <a:ext cx="3814232" cy="1122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6955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Aangepaste indelin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09600" y="274637"/>
            <a:ext cx="10972800" cy="922115"/>
          </a:xfrm>
        </p:spPr>
        <p:txBody>
          <a:bodyPr/>
          <a:lstStyle>
            <a:lvl1pPr algn="l">
              <a:defRPr/>
            </a:lvl1pPr>
          </a:lstStyle>
          <a:p>
            <a:r>
              <a:rPr lang="nl-NL" dirty="0"/>
              <a:t>Inhoud</a:t>
            </a:r>
          </a:p>
        </p:txBody>
      </p:sp>
      <p:sp>
        <p:nvSpPr>
          <p:cNvPr id="3" name="Tijdelijke aanduiding voor datum 2"/>
          <p:cNvSpPr>
            <a:spLocks noGrp="1"/>
          </p:cNvSpPr>
          <p:nvPr>
            <p:ph type="dt" sz="half" idx="10"/>
          </p:nvPr>
        </p:nvSpPr>
        <p:spPr/>
        <p:txBody>
          <a:bodyPr/>
          <a:lstStyle/>
          <a:p>
            <a:fld id="{C131FBE8-FE37-4B01-BFA6-B56116BBAFCC}" type="datetimeFigureOut">
              <a:rPr lang="nl-NL" smtClean="0"/>
              <a:t>4-5-2023</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3E099F6B-CAB9-49D4-A690-DF25548CAB56}" type="slidenum">
              <a:rPr lang="nl-NL" smtClean="0"/>
              <a:t>‹nr.›</a:t>
            </a:fld>
            <a:endParaRPr lang="nl-NL"/>
          </a:p>
        </p:txBody>
      </p:sp>
      <p:sp>
        <p:nvSpPr>
          <p:cNvPr id="6" name="Rectangle 3"/>
          <p:cNvSpPr>
            <a:spLocks noGrp="1" noChangeArrowheads="1"/>
          </p:cNvSpPr>
          <p:nvPr>
            <p:ph type="subTitle" idx="1" hasCustomPrompt="1"/>
          </p:nvPr>
        </p:nvSpPr>
        <p:spPr>
          <a:xfrm>
            <a:off x="623392" y="1196752"/>
            <a:ext cx="11041227" cy="4680520"/>
          </a:xfrm>
          <a:noFill/>
        </p:spPr>
        <p:txBody>
          <a:bodyPr lIns="180000" tIns="90000" bIns="90000"/>
          <a:lstStyle>
            <a:lvl1pPr marL="609585" indent="-609585">
              <a:buFont typeface="+mj-lt"/>
              <a:buAutoNum type="arabicPeriod"/>
              <a:defRPr sz="4267">
                <a:solidFill>
                  <a:srgbClr val="004682"/>
                </a:solidFill>
              </a:defRPr>
            </a:lvl1pPr>
          </a:lstStyle>
          <a:p>
            <a:pPr lvl="0"/>
            <a:r>
              <a:rPr lang="nl-NL" altLang="nl-NL" noProof="0" dirty="0"/>
              <a:t>Vervang voor eigen hoofdstukken</a:t>
            </a:r>
          </a:p>
        </p:txBody>
      </p:sp>
    </p:spTree>
    <p:extLst>
      <p:ext uri="{BB962C8B-B14F-4D97-AF65-F5344CB8AC3E}">
        <p14:creationId xmlns:p14="http://schemas.microsoft.com/office/powerpoint/2010/main" val="3787867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C131FBE8-FE37-4B01-BFA6-B56116BBAFCC}" type="datetimeFigureOut">
              <a:rPr lang="nl-NL" smtClean="0"/>
              <a:t>4-5-2023</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3E099F6B-CAB9-49D4-A690-DF25548CAB56}" type="slidenum">
              <a:rPr lang="nl-NL" smtClean="0"/>
              <a:t>‹nr.›</a:t>
            </a:fld>
            <a:endParaRPr lang="nl-NL"/>
          </a:p>
        </p:txBody>
      </p:sp>
      <p:sp>
        <p:nvSpPr>
          <p:cNvPr id="9" name="Rectangle 2"/>
          <p:cNvSpPr>
            <a:spLocks noGrp="1" noChangeArrowheads="1"/>
          </p:cNvSpPr>
          <p:nvPr>
            <p:ph type="ctrTitle" hasCustomPrompt="1"/>
          </p:nvPr>
        </p:nvSpPr>
        <p:spPr>
          <a:xfrm>
            <a:off x="0" y="474665"/>
            <a:ext cx="4060800" cy="1673225"/>
          </a:xfrm>
          <a:solidFill>
            <a:schemeClr val="bg1"/>
          </a:solidFill>
          <a:ln>
            <a:noFill/>
            <a:miter lim="800000"/>
            <a:headEnd/>
            <a:tailEnd/>
          </a:ln>
          <a:effectLst>
            <a:outerShdw blurRad="635000" dist="254000" dir="2700000" algn="ctr" rotWithShape="0">
              <a:srgbClr val="D9E3ED"/>
            </a:outerShdw>
          </a:effectLst>
        </p:spPr>
        <p:txBody>
          <a:bodyPr lIns="540000" tIns="90000" bIns="90000"/>
          <a:lstStyle>
            <a:lvl1pPr algn="l">
              <a:defRPr sz="12800"/>
            </a:lvl1pPr>
          </a:lstStyle>
          <a:p>
            <a:pPr lvl="0"/>
            <a:r>
              <a:rPr lang="nl-NL" altLang="nl-NL" noProof="0" dirty="0" err="1"/>
              <a:t>Nr</a:t>
            </a:r>
            <a:endParaRPr lang="nl-NL" altLang="nl-NL" noProof="0" dirty="0"/>
          </a:p>
        </p:txBody>
      </p:sp>
      <p:sp>
        <p:nvSpPr>
          <p:cNvPr id="10" name="Rectangle 3"/>
          <p:cNvSpPr>
            <a:spLocks noGrp="1" noChangeArrowheads="1"/>
          </p:cNvSpPr>
          <p:nvPr>
            <p:ph type="subTitle" idx="1" hasCustomPrompt="1"/>
          </p:nvPr>
        </p:nvSpPr>
        <p:spPr>
          <a:xfrm>
            <a:off x="4079776" y="2132856"/>
            <a:ext cx="8112224" cy="2447083"/>
          </a:xfrm>
          <a:solidFill>
            <a:srgbClr val="004682"/>
          </a:solidFill>
        </p:spPr>
        <p:txBody>
          <a:bodyPr lIns="360000" tIns="90000" bIns="90000" anchor="ctr" anchorCtr="0"/>
          <a:lstStyle>
            <a:lvl1pPr marL="0" indent="0">
              <a:buFont typeface="Wingdings" pitchFamily="2" charset="2"/>
              <a:buNone/>
              <a:defRPr sz="6400" b="1">
                <a:solidFill>
                  <a:schemeClr val="bg1"/>
                </a:solidFill>
              </a:defRPr>
            </a:lvl1pPr>
          </a:lstStyle>
          <a:p>
            <a:pPr lvl="0"/>
            <a:r>
              <a:rPr lang="nl-NL" altLang="nl-NL" noProof="0" dirty="0"/>
              <a:t>Hoofdstuk</a:t>
            </a:r>
          </a:p>
        </p:txBody>
      </p:sp>
    </p:spTree>
    <p:extLst>
      <p:ext uri="{BB962C8B-B14F-4D97-AF65-F5344CB8AC3E}">
        <p14:creationId xmlns:p14="http://schemas.microsoft.com/office/powerpoint/2010/main" val="2952242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nl-NL" dirty="0"/>
              <a:t>Vervang voor titel</a:t>
            </a:r>
          </a:p>
        </p:txBody>
      </p:sp>
      <p:sp>
        <p:nvSpPr>
          <p:cNvPr id="3" name="Tijdelijke aanduiding voor datum 2"/>
          <p:cNvSpPr>
            <a:spLocks noGrp="1"/>
          </p:cNvSpPr>
          <p:nvPr>
            <p:ph type="dt" sz="half" idx="10"/>
          </p:nvPr>
        </p:nvSpPr>
        <p:spPr/>
        <p:txBody>
          <a:bodyPr/>
          <a:lstStyle/>
          <a:p>
            <a:fld id="{C131FBE8-FE37-4B01-BFA6-B56116BBAFCC}" type="datetimeFigureOut">
              <a:rPr lang="nl-NL" smtClean="0"/>
              <a:t>4-5-2023</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3E099F6B-CAB9-49D4-A690-DF25548CAB56}" type="slidenum">
              <a:rPr lang="nl-NL" smtClean="0"/>
              <a:t>‹nr.›</a:t>
            </a:fld>
            <a:endParaRPr lang="nl-NL"/>
          </a:p>
        </p:txBody>
      </p:sp>
      <p:sp>
        <p:nvSpPr>
          <p:cNvPr id="6" name="Tijdelijke aanduiding voor tekst 2"/>
          <p:cNvSpPr>
            <a:spLocks noGrp="1"/>
          </p:cNvSpPr>
          <p:nvPr>
            <p:ph idx="1" hasCustomPrompt="1"/>
          </p:nvPr>
        </p:nvSpPr>
        <p:spPr>
          <a:xfrm>
            <a:off x="609600" y="1600201"/>
            <a:ext cx="10972800" cy="4349080"/>
          </a:xfrm>
          <a:prstGeom prst="rect">
            <a:avLst/>
          </a:prstGeom>
        </p:spPr>
        <p:txBody>
          <a:bodyPr vert="horz" lIns="91440" tIns="45720" rIns="91440" bIns="45720" rtlCol="0">
            <a:normAutofit/>
          </a:bodyPr>
          <a:lstStyle>
            <a:lvl1pPr>
              <a:defRPr baseline="0"/>
            </a:lvl1pPr>
          </a:lstStyle>
          <a:p>
            <a:pPr lvl="0"/>
            <a:r>
              <a:rPr lang="nl-NL" dirty="0"/>
              <a:t>Vervang opsomming items</a:t>
            </a:r>
          </a:p>
          <a:p>
            <a:pPr lvl="0"/>
            <a:r>
              <a:rPr lang="nl-NL" dirty="0"/>
              <a:t>Of klik op één van de object items</a:t>
            </a:r>
          </a:p>
          <a:p>
            <a:pPr lvl="1"/>
            <a:r>
              <a:rPr lang="nl-NL" dirty="0"/>
              <a:t>Tweede niveau</a:t>
            </a:r>
          </a:p>
          <a:p>
            <a:pPr lvl="2"/>
            <a:r>
              <a:rPr lang="nl-NL" dirty="0"/>
              <a:t>Derde niveau</a:t>
            </a:r>
          </a:p>
          <a:p>
            <a:pPr lvl="3"/>
            <a:r>
              <a:rPr lang="nl-NL" dirty="0"/>
              <a:t>Vierde niveau</a:t>
            </a:r>
          </a:p>
          <a:p>
            <a:pPr lvl="4"/>
            <a:r>
              <a:rPr lang="nl-NL" dirty="0"/>
              <a:t>Vijfde niveau</a:t>
            </a:r>
          </a:p>
        </p:txBody>
      </p:sp>
    </p:spTree>
    <p:extLst>
      <p:ext uri="{BB962C8B-B14F-4D97-AF65-F5344CB8AC3E}">
        <p14:creationId xmlns:p14="http://schemas.microsoft.com/office/powerpoint/2010/main" val="3997488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eldia">
    <p:spTree>
      <p:nvGrpSpPr>
        <p:cNvPr id="1" name=""/>
        <p:cNvGrpSpPr/>
        <p:nvPr/>
      </p:nvGrpSpPr>
      <p:grpSpPr>
        <a:xfrm>
          <a:off x="0" y="0"/>
          <a:ext cx="0" cy="0"/>
          <a:chOff x="0" y="0"/>
          <a:chExt cx="0" cy="0"/>
        </a:xfrm>
      </p:grpSpPr>
      <p:sp>
        <p:nvSpPr>
          <p:cNvPr id="2" name="Rechthoek 1"/>
          <p:cNvSpPr/>
          <p:nvPr/>
        </p:nvSpPr>
        <p:spPr>
          <a:xfrm>
            <a:off x="0" y="476672"/>
            <a:ext cx="4060800" cy="2160000"/>
          </a:xfrm>
          <a:prstGeom prst="rect">
            <a:avLst/>
          </a:prstGeom>
          <a:solidFill>
            <a:schemeClr val="bg1"/>
          </a:solidFill>
          <a:ln>
            <a:noFill/>
          </a:ln>
          <a:effectLst>
            <a:outerShdw blurRad="635000" dist="254000" dir="5400000" algn="ctr" rotWithShape="0">
              <a:srgbClr val="D9E3ED"/>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a:p>
        </p:txBody>
      </p:sp>
      <p:sp>
        <p:nvSpPr>
          <p:cNvPr id="4" name="Tijdelijke aanduiding voor datum 3"/>
          <p:cNvSpPr>
            <a:spLocks noGrp="1"/>
          </p:cNvSpPr>
          <p:nvPr>
            <p:ph type="dt" sz="half" idx="10"/>
          </p:nvPr>
        </p:nvSpPr>
        <p:spPr/>
        <p:txBody>
          <a:bodyPr/>
          <a:lstStyle/>
          <a:p>
            <a:fld id="{C131FBE8-FE37-4B01-BFA6-B56116BBAFCC}" type="datetimeFigureOut">
              <a:rPr lang="nl-NL" smtClean="0"/>
              <a:t>4-5-2023</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3E099F6B-CAB9-49D4-A690-DF25548CAB56}" type="slidenum">
              <a:rPr lang="nl-NL" smtClean="0"/>
              <a:t>‹nr.›</a:t>
            </a:fld>
            <a:endParaRPr lang="nl-NL"/>
          </a:p>
        </p:txBody>
      </p:sp>
      <p:sp>
        <p:nvSpPr>
          <p:cNvPr id="10" name="Rectangle 3"/>
          <p:cNvSpPr>
            <a:spLocks noGrp="1" noChangeArrowheads="1"/>
          </p:cNvSpPr>
          <p:nvPr>
            <p:ph type="subTitle" idx="1" hasCustomPrompt="1"/>
          </p:nvPr>
        </p:nvSpPr>
        <p:spPr>
          <a:xfrm>
            <a:off x="4060800" y="2636672"/>
            <a:ext cx="8131200" cy="3384616"/>
          </a:xfrm>
          <a:solidFill>
            <a:srgbClr val="004682"/>
          </a:solidFill>
        </p:spPr>
        <p:txBody>
          <a:bodyPr lIns="360000" tIns="180000" bIns="90000" anchor="t" anchorCtr="0">
            <a:normAutofit/>
          </a:bodyPr>
          <a:lstStyle>
            <a:lvl1pPr marL="0" indent="0">
              <a:buFont typeface="Wingdings" pitchFamily="2" charset="2"/>
              <a:buNone/>
              <a:defRPr sz="4267" b="1" baseline="0">
                <a:solidFill>
                  <a:schemeClr val="bg1"/>
                </a:solidFill>
              </a:defRPr>
            </a:lvl1pPr>
          </a:lstStyle>
          <a:p>
            <a:pPr lvl="0"/>
            <a:r>
              <a:rPr lang="nl-NL" altLang="nl-NL" noProof="0" dirty="0"/>
              <a:t>Vervang titel</a:t>
            </a:r>
          </a:p>
        </p:txBody>
      </p:sp>
      <p:sp>
        <p:nvSpPr>
          <p:cNvPr id="11" name="Tijdelijke aanduiding voor tekst 2"/>
          <p:cNvSpPr>
            <a:spLocks noGrp="1"/>
          </p:cNvSpPr>
          <p:nvPr>
            <p:ph idx="13" hasCustomPrompt="1"/>
          </p:nvPr>
        </p:nvSpPr>
        <p:spPr>
          <a:xfrm>
            <a:off x="0" y="404664"/>
            <a:ext cx="4060800" cy="2232008"/>
          </a:xfrm>
          <a:prstGeom prst="rect">
            <a:avLst/>
          </a:prstGeom>
        </p:spPr>
        <p:txBody>
          <a:bodyPr vert="horz" lIns="91440" tIns="45720" rIns="91440" bIns="45720" rtlCol="0">
            <a:normAutofit/>
          </a:bodyPr>
          <a:lstStyle>
            <a:lvl1pPr>
              <a:defRPr/>
            </a:lvl1pPr>
          </a:lstStyle>
          <a:p>
            <a:pPr lvl="0"/>
            <a:r>
              <a:rPr lang="nl-NL" dirty="0"/>
              <a:t>Kies object</a:t>
            </a:r>
          </a:p>
        </p:txBody>
      </p:sp>
    </p:spTree>
    <p:extLst>
      <p:ext uri="{BB962C8B-B14F-4D97-AF65-F5344CB8AC3E}">
        <p14:creationId xmlns:p14="http://schemas.microsoft.com/office/powerpoint/2010/main" val="2447325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Aangepaste indelin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367808" y="274639"/>
            <a:ext cx="7214592" cy="1143000"/>
          </a:xfrm>
        </p:spPr>
        <p:txBody>
          <a:bodyPr/>
          <a:lstStyle>
            <a:lvl1pPr>
              <a:defRPr/>
            </a:lvl1pPr>
          </a:lstStyle>
          <a:p>
            <a:r>
              <a:rPr lang="nl-NL" dirty="0"/>
              <a:t>Klik voor titel</a:t>
            </a:r>
          </a:p>
        </p:txBody>
      </p:sp>
      <p:sp>
        <p:nvSpPr>
          <p:cNvPr id="3" name="Tijdelijke aanduiding voor datum 2"/>
          <p:cNvSpPr>
            <a:spLocks noGrp="1"/>
          </p:cNvSpPr>
          <p:nvPr>
            <p:ph type="dt" sz="half" idx="10"/>
          </p:nvPr>
        </p:nvSpPr>
        <p:spPr/>
        <p:txBody>
          <a:bodyPr/>
          <a:lstStyle/>
          <a:p>
            <a:fld id="{C131FBE8-FE37-4B01-BFA6-B56116BBAFCC}" type="datetimeFigureOut">
              <a:rPr lang="nl-NL" smtClean="0"/>
              <a:t>4-5-2023</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3E099F6B-CAB9-49D4-A690-DF25548CAB56}" type="slidenum">
              <a:rPr lang="nl-NL" smtClean="0"/>
              <a:t>‹nr.›</a:t>
            </a:fld>
            <a:endParaRPr lang="nl-NL"/>
          </a:p>
        </p:txBody>
      </p:sp>
      <p:sp>
        <p:nvSpPr>
          <p:cNvPr id="7" name="Tijdelijke aanduiding voor tekst 2"/>
          <p:cNvSpPr>
            <a:spLocks noGrp="1"/>
          </p:cNvSpPr>
          <p:nvPr>
            <p:ph idx="1" hasCustomPrompt="1"/>
          </p:nvPr>
        </p:nvSpPr>
        <p:spPr>
          <a:xfrm>
            <a:off x="4367808" y="1600201"/>
            <a:ext cx="7214592" cy="4349080"/>
          </a:xfrm>
          <a:prstGeom prst="rect">
            <a:avLst/>
          </a:prstGeom>
        </p:spPr>
        <p:txBody>
          <a:bodyPr vert="horz" lIns="91440" tIns="45720" rIns="91440" bIns="45720" rtlCol="0">
            <a:normAutofit/>
          </a:bodyPr>
          <a:lstStyle>
            <a:lvl1pPr>
              <a:defRPr/>
            </a:lvl1pPr>
          </a:lstStyle>
          <a:p>
            <a:pPr lvl="0"/>
            <a:r>
              <a:rPr lang="nl-NL" dirty="0"/>
              <a:t>Klik om tekst toe te voegen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9" name="Tijdelijke aanduiding voor tekst 2"/>
          <p:cNvSpPr>
            <a:spLocks noGrp="1"/>
          </p:cNvSpPr>
          <p:nvPr>
            <p:ph idx="13" hasCustomPrompt="1"/>
          </p:nvPr>
        </p:nvSpPr>
        <p:spPr>
          <a:xfrm>
            <a:off x="0" y="260648"/>
            <a:ext cx="4060800" cy="5688632"/>
          </a:xfrm>
          <a:prstGeom prst="rect">
            <a:avLst/>
          </a:prstGeom>
        </p:spPr>
        <p:txBody>
          <a:bodyPr vert="horz" lIns="91440" tIns="45720" rIns="91440" bIns="45720" rtlCol="0">
            <a:normAutofit/>
          </a:bodyPr>
          <a:lstStyle>
            <a:lvl1pPr>
              <a:defRPr/>
            </a:lvl1pPr>
          </a:lstStyle>
          <a:p>
            <a:pPr lvl="0"/>
            <a:r>
              <a:rPr lang="nl-NL" dirty="0"/>
              <a:t>Kies object</a:t>
            </a:r>
          </a:p>
        </p:txBody>
      </p:sp>
    </p:spTree>
    <p:extLst>
      <p:ext uri="{BB962C8B-B14F-4D97-AF65-F5344CB8AC3E}">
        <p14:creationId xmlns:p14="http://schemas.microsoft.com/office/powerpoint/2010/main" val="917599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iteldia">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C131FBE8-FE37-4B01-BFA6-B56116BBAFCC}" type="datetimeFigureOut">
              <a:rPr lang="nl-NL" smtClean="0"/>
              <a:t>4-5-2023</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3E099F6B-CAB9-49D4-A690-DF25548CAB56}" type="slidenum">
              <a:rPr lang="nl-NL" smtClean="0"/>
              <a:t>‹nr.›</a:t>
            </a:fld>
            <a:endParaRPr lang="nl-NL"/>
          </a:p>
        </p:txBody>
      </p:sp>
      <p:sp>
        <p:nvSpPr>
          <p:cNvPr id="9" name="Rectangle 2"/>
          <p:cNvSpPr>
            <a:spLocks noGrp="1" noChangeArrowheads="1"/>
          </p:cNvSpPr>
          <p:nvPr>
            <p:ph type="ctrTitle" hasCustomPrompt="1"/>
          </p:nvPr>
        </p:nvSpPr>
        <p:spPr>
          <a:xfrm>
            <a:off x="0" y="474665"/>
            <a:ext cx="4060800" cy="1673225"/>
          </a:xfrm>
          <a:solidFill>
            <a:schemeClr val="bg1"/>
          </a:solidFill>
          <a:ln>
            <a:noFill/>
            <a:miter lim="800000"/>
            <a:headEnd/>
            <a:tailEnd/>
          </a:ln>
          <a:effectLst>
            <a:outerShdw blurRad="635000" dist="254000" dir="2700000" algn="ctr" rotWithShape="0">
              <a:srgbClr val="D9E3ED"/>
            </a:outerShdw>
          </a:effectLst>
        </p:spPr>
        <p:txBody>
          <a:bodyPr lIns="540000" tIns="90000" bIns="90000">
            <a:normAutofit/>
          </a:bodyPr>
          <a:lstStyle>
            <a:lvl1pPr algn="l">
              <a:defRPr sz="5333"/>
            </a:lvl1pPr>
          </a:lstStyle>
          <a:p>
            <a:pPr lvl="0"/>
            <a:r>
              <a:rPr lang="nl-NL" altLang="nl-NL" noProof="0" dirty="0"/>
              <a:t>Bedankt</a:t>
            </a:r>
          </a:p>
        </p:txBody>
      </p:sp>
      <p:sp>
        <p:nvSpPr>
          <p:cNvPr id="8" name="Tijdelijke aanduiding voor tekst 2"/>
          <p:cNvSpPr>
            <a:spLocks noGrp="1"/>
          </p:cNvSpPr>
          <p:nvPr>
            <p:ph idx="1" hasCustomPrompt="1"/>
          </p:nvPr>
        </p:nvSpPr>
        <p:spPr>
          <a:xfrm>
            <a:off x="4079776" y="2132855"/>
            <a:ext cx="8112224" cy="3880800"/>
          </a:xfrm>
          <a:prstGeom prst="rect">
            <a:avLst/>
          </a:prstGeom>
          <a:solidFill>
            <a:schemeClr val="bg1"/>
          </a:solidFill>
        </p:spPr>
        <p:txBody>
          <a:bodyPr vert="horz" lIns="91440" tIns="45720" rIns="91440" bIns="45720" rtlCol="0">
            <a:normAutofit/>
          </a:bodyPr>
          <a:lstStyle>
            <a:lvl1pPr>
              <a:defRPr baseline="0"/>
            </a:lvl1pPr>
          </a:lstStyle>
          <a:p>
            <a:pPr lvl="0"/>
            <a:r>
              <a:rPr lang="nl-NL" dirty="0"/>
              <a:t>Kies object afbeelding</a:t>
            </a:r>
          </a:p>
        </p:txBody>
      </p:sp>
    </p:spTree>
    <p:extLst>
      <p:ext uri="{BB962C8B-B14F-4D97-AF65-F5344CB8AC3E}">
        <p14:creationId xmlns:p14="http://schemas.microsoft.com/office/powerpoint/2010/main" val="2179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Aangepaste indeling">
    <p:spTree>
      <p:nvGrpSpPr>
        <p:cNvPr id="1" name=""/>
        <p:cNvGrpSpPr/>
        <p:nvPr/>
      </p:nvGrpSpPr>
      <p:grpSpPr>
        <a:xfrm>
          <a:off x="0" y="0"/>
          <a:ext cx="0" cy="0"/>
          <a:chOff x="0" y="0"/>
          <a:chExt cx="0" cy="0"/>
        </a:xfrm>
      </p:grpSpPr>
      <p:sp>
        <p:nvSpPr>
          <p:cNvPr id="3" name="Tijdelijke aanduiding voor datum 2"/>
          <p:cNvSpPr>
            <a:spLocks noGrp="1"/>
          </p:cNvSpPr>
          <p:nvPr>
            <p:ph type="dt" sz="half" idx="10"/>
          </p:nvPr>
        </p:nvSpPr>
        <p:spPr/>
        <p:txBody>
          <a:bodyPr/>
          <a:lstStyle/>
          <a:p>
            <a:fld id="{C131FBE8-FE37-4B01-BFA6-B56116BBAFCC}" type="datetimeFigureOut">
              <a:rPr lang="nl-NL" smtClean="0"/>
              <a:t>4-5-2023</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3E099F6B-CAB9-49D4-A690-DF25548CAB56}" type="slidenum">
              <a:rPr lang="nl-NL" smtClean="0"/>
              <a:t>‹nr.›</a:t>
            </a:fld>
            <a:endParaRPr lang="nl-NL"/>
          </a:p>
        </p:txBody>
      </p:sp>
      <p:sp>
        <p:nvSpPr>
          <p:cNvPr id="6" name="Rechthoek 5"/>
          <p:cNvSpPr/>
          <p:nvPr/>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a:p>
        </p:txBody>
      </p:sp>
      <p:pic>
        <p:nvPicPr>
          <p:cNvPr id="9" name="Picture 14"/>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197351" y="5842398"/>
            <a:ext cx="3814232" cy="1122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Afbeelding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7351" y="1059715"/>
            <a:ext cx="3808952" cy="4734459"/>
          </a:xfrm>
          <a:prstGeom prst="rect">
            <a:avLst/>
          </a:prstGeom>
        </p:spPr>
      </p:pic>
    </p:spTree>
    <p:extLst>
      <p:ext uri="{BB962C8B-B14F-4D97-AF65-F5344CB8AC3E}">
        <p14:creationId xmlns:p14="http://schemas.microsoft.com/office/powerpoint/2010/main" val="245969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5_Aangepaste indeling">
    <p:spTree>
      <p:nvGrpSpPr>
        <p:cNvPr id="1" name=""/>
        <p:cNvGrpSpPr/>
        <p:nvPr/>
      </p:nvGrpSpPr>
      <p:grpSpPr>
        <a:xfrm>
          <a:off x="0" y="0"/>
          <a:ext cx="0" cy="0"/>
          <a:chOff x="0" y="0"/>
          <a:chExt cx="0" cy="0"/>
        </a:xfrm>
      </p:grpSpPr>
      <p:sp>
        <p:nvSpPr>
          <p:cNvPr id="3" name="Tijdelijke aanduiding voor datum 2"/>
          <p:cNvSpPr>
            <a:spLocks noGrp="1"/>
          </p:cNvSpPr>
          <p:nvPr>
            <p:ph type="dt" sz="half" idx="10"/>
          </p:nvPr>
        </p:nvSpPr>
        <p:spPr/>
        <p:txBody>
          <a:bodyPr/>
          <a:lstStyle/>
          <a:p>
            <a:fld id="{C131FBE8-FE37-4B01-BFA6-B56116BBAFCC}" type="datetimeFigureOut">
              <a:rPr lang="nl-NL" smtClean="0"/>
              <a:t>4-5-2023</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3E099F6B-CAB9-49D4-A690-DF25548CAB56}" type="slidenum">
              <a:rPr lang="nl-NL" smtClean="0"/>
              <a:t>‹nr.›</a:t>
            </a:fld>
            <a:endParaRPr lang="nl-NL"/>
          </a:p>
        </p:txBody>
      </p:sp>
      <p:sp>
        <p:nvSpPr>
          <p:cNvPr id="6" name="Rechthoek 5"/>
          <p:cNvSpPr/>
          <p:nvPr/>
        </p:nvSpPr>
        <p:spPr>
          <a:xfrm>
            <a:off x="0" y="0"/>
            <a:ext cx="12192000" cy="6858000"/>
          </a:xfrm>
          <a:prstGeom prst="rect">
            <a:avLst/>
          </a:prstGeom>
          <a:solidFill>
            <a:srgbClr val="0046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a:p>
        </p:txBody>
      </p:sp>
      <p:pic>
        <p:nvPicPr>
          <p:cNvPr id="10" name="Picture 14"/>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197351" y="5842398"/>
            <a:ext cx="3814232" cy="112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Afbeelding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7351" y="1059716"/>
            <a:ext cx="3808952" cy="4734457"/>
          </a:xfrm>
          <a:prstGeom prst="rect">
            <a:avLst/>
          </a:prstGeom>
        </p:spPr>
      </p:pic>
    </p:spTree>
    <p:extLst>
      <p:ext uri="{BB962C8B-B14F-4D97-AF65-F5344CB8AC3E}">
        <p14:creationId xmlns:p14="http://schemas.microsoft.com/office/powerpoint/2010/main" val="1029032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nl-NL" dirty="0"/>
              <a:t>Klik om de stijl te bewerken</a:t>
            </a:r>
          </a:p>
        </p:txBody>
      </p:sp>
      <p:sp>
        <p:nvSpPr>
          <p:cNvPr id="3" name="Tijdelijke aanduiding voor tekst 2"/>
          <p:cNvSpPr>
            <a:spLocks noGrp="1"/>
          </p:cNvSpPr>
          <p:nvPr>
            <p:ph type="body" idx="1"/>
          </p:nvPr>
        </p:nvSpPr>
        <p:spPr>
          <a:xfrm>
            <a:off x="609600" y="1600201"/>
            <a:ext cx="10972800" cy="4349080"/>
          </a:xfrm>
          <a:prstGeom prst="rect">
            <a:avLst/>
          </a:prstGeom>
        </p:spPr>
        <p:txBody>
          <a:bodyPr vert="horz" lIns="91440" tIns="45720" rIns="91440" bIns="45720" rtlCol="0">
            <a:normAutofit/>
          </a:bodyPr>
          <a:lstStyle/>
          <a:p>
            <a:pPr lvl="0"/>
            <a:r>
              <a:rPr lang="nl-NL" dirty="0"/>
              <a:t>Klik om de modelstijlen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8784299" y="6227888"/>
            <a:ext cx="2844800" cy="241003"/>
          </a:xfrm>
          <a:prstGeom prst="rect">
            <a:avLst/>
          </a:prstGeom>
        </p:spPr>
        <p:txBody>
          <a:bodyPr vert="horz" lIns="91440" tIns="45720" rIns="91440" bIns="45720" rtlCol="0" anchor="ctr"/>
          <a:lstStyle>
            <a:lvl1pPr algn="r">
              <a:defRPr sz="1333">
                <a:solidFill>
                  <a:srgbClr val="004682"/>
                </a:solidFill>
                <a:latin typeface="Arial" panose="020B0604020202020204" pitchFamily="34" charset="0"/>
                <a:cs typeface="Arial" panose="020B0604020202020204" pitchFamily="34" charset="0"/>
              </a:defRPr>
            </a:lvl1pPr>
          </a:lstStyle>
          <a:p>
            <a:fld id="{C131FBE8-FE37-4B01-BFA6-B56116BBAFCC}" type="datetimeFigureOut">
              <a:rPr lang="nl-NL" smtClean="0"/>
              <a:t>4-5-2023</a:t>
            </a:fld>
            <a:endParaRPr lang="nl-NL"/>
          </a:p>
        </p:txBody>
      </p:sp>
      <p:sp>
        <p:nvSpPr>
          <p:cNvPr id="5" name="Tijdelijke aanduiding voor voettekst 4"/>
          <p:cNvSpPr>
            <a:spLocks noGrp="1"/>
          </p:cNvSpPr>
          <p:nvPr>
            <p:ph type="ftr" sz="quarter" idx="3"/>
          </p:nvPr>
        </p:nvSpPr>
        <p:spPr>
          <a:xfrm>
            <a:off x="623393" y="6229228"/>
            <a:ext cx="4918041" cy="216025"/>
          </a:xfrm>
          <a:prstGeom prst="rect">
            <a:avLst/>
          </a:prstGeom>
        </p:spPr>
        <p:txBody>
          <a:bodyPr vert="horz" lIns="91440" tIns="45720" rIns="91440" bIns="45720" rtlCol="0" anchor="ctr"/>
          <a:lstStyle>
            <a:lvl1pPr algn="l">
              <a:defRPr sz="1333">
                <a:solidFill>
                  <a:srgbClr val="004682"/>
                </a:solidFill>
                <a:latin typeface="Arial" panose="020B0604020202020204" pitchFamily="34" charset="0"/>
                <a:cs typeface="Arial" panose="020B0604020202020204" pitchFamily="34" charset="0"/>
              </a:defRPr>
            </a:lvl1pPr>
          </a:lstStyle>
          <a:p>
            <a:endParaRPr lang="nl-NL"/>
          </a:p>
        </p:txBody>
      </p:sp>
      <p:sp>
        <p:nvSpPr>
          <p:cNvPr id="6" name="Tijdelijke aanduiding voor dianummer 5"/>
          <p:cNvSpPr>
            <a:spLocks noGrp="1"/>
          </p:cNvSpPr>
          <p:nvPr>
            <p:ph type="sldNum" sz="quarter" idx="4"/>
          </p:nvPr>
        </p:nvSpPr>
        <p:spPr>
          <a:xfrm>
            <a:off x="623392" y="6445251"/>
            <a:ext cx="2844800" cy="196131"/>
          </a:xfrm>
          <a:prstGeom prst="rect">
            <a:avLst/>
          </a:prstGeom>
        </p:spPr>
        <p:txBody>
          <a:bodyPr vert="horz" lIns="91440" tIns="45720" rIns="91440" bIns="45720" rtlCol="0" anchor="ctr"/>
          <a:lstStyle>
            <a:lvl1pPr algn="l">
              <a:defRPr sz="1333">
                <a:solidFill>
                  <a:srgbClr val="004682"/>
                </a:solidFill>
                <a:latin typeface="Arial" panose="020B0604020202020204" pitchFamily="34" charset="0"/>
                <a:cs typeface="Arial" panose="020B0604020202020204" pitchFamily="34" charset="0"/>
              </a:defRPr>
            </a:lvl1pPr>
          </a:lstStyle>
          <a:p>
            <a:fld id="{3E099F6B-CAB9-49D4-A690-DF25548CAB56}" type="slidenum">
              <a:rPr lang="nl-NL" smtClean="0"/>
              <a:t>‹nr.›</a:t>
            </a:fld>
            <a:endParaRPr lang="nl-NL"/>
          </a:p>
        </p:txBody>
      </p:sp>
      <p:sp>
        <p:nvSpPr>
          <p:cNvPr id="11" name="Line 7"/>
          <p:cNvSpPr>
            <a:spLocks noChangeShapeType="1"/>
          </p:cNvSpPr>
          <p:nvPr/>
        </p:nvSpPr>
        <p:spPr bwMode="auto">
          <a:xfrm>
            <a:off x="0" y="6021388"/>
            <a:ext cx="12192000" cy="0"/>
          </a:xfrm>
          <a:prstGeom prst="line">
            <a:avLst/>
          </a:prstGeom>
          <a:noFill/>
          <a:ln w="6350">
            <a:solidFill>
              <a:srgbClr val="00468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nl-NL" sz="2400"/>
          </a:p>
        </p:txBody>
      </p:sp>
      <p:pic>
        <p:nvPicPr>
          <p:cNvPr id="12" name="Picture 8" descr="POL_Monogram_Logo_Blauw_RGB_300dpi"/>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763475" y="6032501"/>
            <a:ext cx="665051" cy="827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32209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defTabSz="1219170" rtl="0" eaLnBrk="1" latinLnBrk="0" hangingPunct="1">
        <a:spcBef>
          <a:spcPct val="0"/>
        </a:spcBef>
        <a:buNone/>
        <a:defRPr sz="5867" b="1" kern="1200">
          <a:solidFill>
            <a:srgbClr val="004682"/>
          </a:solidFill>
          <a:latin typeface="Arial" panose="020B0604020202020204" pitchFamily="34" charset="0"/>
          <a:ea typeface="+mj-ea"/>
          <a:cs typeface="Arial" panose="020B0604020202020204" pitchFamily="34" charset="0"/>
        </a:defRPr>
      </a:lvl1pPr>
    </p:titleStyle>
    <p:bodyStyle>
      <a:lvl1pPr marL="457189" indent="-457189" algn="l" defTabSz="1219170" rtl="0" eaLnBrk="1" latinLnBrk="0" hangingPunct="1">
        <a:spcBef>
          <a:spcPct val="20000"/>
        </a:spcBef>
        <a:buFont typeface="Wingdings" panose="05000000000000000000" pitchFamily="2" charset="2"/>
        <a:buChar char="§"/>
        <a:defRPr sz="4267" kern="1200">
          <a:solidFill>
            <a:srgbClr val="004682"/>
          </a:solidFill>
          <a:latin typeface="Arial" panose="020B0604020202020204" pitchFamily="34" charset="0"/>
          <a:ea typeface="+mn-ea"/>
          <a:cs typeface="Arial" panose="020B0604020202020204" pitchFamily="34" charset="0"/>
        </a:defRPr>
      </a:lvl1pPr>
      <a:lvl2pPr marL="1219170" indent="-609585" algn="l" defTabSz="1219170" rtl="0" eaLnBrk="1" latinLnBrk="0" hangingPunct="1">
        <a:spcBef>
          <a:spcPct val="20000"/>
        </a:spcBef>
        <a:buFont typeface="Wingdings" panose="05000000000000000000" pitchFamily="2" charset="2"/>
        <a:buChar char="§"/>
        <a:defRPr sz="3733" kern="1200">
          <a:solidFill>
            <a:srgbClr val="004682"/>
          </a:solidFill>
          <a:latin typeface="+mn-lt"/>
          <a:ea typeface="+mn-ea"/>
          <a:cs typeface="+mn-cs"/>
        </a:defRPr>
      </a:lvl2pPr>
      <a:lvl3pPr marL="1523962" indent="-304792" algn="l" defTabSz="1219170" rtl="0" eaLnBrk="1" latinLnBrk="0" hangingPunct="1">
        <a:spcBef>
          <a:spcPct val="20000"/>
        </a:spcBef>
        <a:buFont typeface="Wingdings" panose="05000000000000000000" pitchFamily="2" charset="2"/>
        <a:buChar char="§"/>
        <a:defRPr sz="3200" kern="1200">
          <a:solidFill>
            <a:srgbClr val="004682"/>
          </a:solidFill>
          <a:latin typeface="+mn-lt"/>
          <a:ea typeface="+mn-ea"/>
          <a:cs typeface="+mn-cs"/>
        </a:defRPr>
      </a:lvl3pPr>
      <a:lvl4pPr marL="2133547" indent="-304792" algn="l" defTabSz="1219170" rtl="0" eaLnBrk="1" latinLnBrk="0" hangingPunct="1">
        <a:spcBef>
          <a:spcPct val="20000"/>
        </a:spcBef>
        <a:buFont typeface="Arial" panose="020B0604020202020204" pitchFamily="34" charset="0"/>
        <a:buChar char="-"/>
        <a:defRPr sz="2667" kern="1200">
          <a:solidFill>
            <a:srgbClr val="004682"/>
          </a:solidFill>
          <a:latin typeface="+mn-lt"/>
          <a:ea typeface="+mn-ea"/>
          <a:cs typeface="+mn-cs"/>
        </a:defRPr>
      </a:lvl4pPr>
      <a:lvl5pPr marL="2743131" indent="-304792" algn="l" defTabSz="1219170" rtl="0" eaLnBrk="1" latinLnBrk="0" hangingPunct="1">
        <a:spcBef>
          <a:spcPct val="20000"/>
        </a:spcBef>
        <a:buFont typeface="Arial" panose="020B0604020202020204" pitchFamily="34" charset="0"/>
        <a:buChar char="»"/>
        <a:defRPr sz="2667" kern="1200">
          <a:solidFill>
            <a:srgbClr val="004682"/>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nl-NL"/>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agora.portal.politie.local/sites/170328103546/Gedeelde%20%20documenten/Deelarchitectuur%20Autorisatiemanagement.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en-US" sz="4800" dirty="0"/>
              <a:t>Het VWM</a:t>
            </a:r>
            <a:endParaRPr lang="nl-NL" sz="4800" dirty="0"/>
          </a:p>
        </p:txBody>
      </p:sp>
      <p:sp>
        <p:nvSpPr>
          <p:cNvPr id="3" name="Ondertitel 2"/>
          <p:cNvSpPr>
            <a:spLocks noGrp="1"/>
          </p:cNvSpPr>
          <p:nvPr>
            <p:ph type="subTitle" idx="1"/>
          </p:nvPr>
        </p:nvSpPr>
        <p:spPr/>
        <p:txBody>
          <a:bodyPr/>
          <a:lstStyle/>
          <a:p>
            <a:r>
              <a:rPr lang="en-US" dirty="0"/>
              <a:t>Hans Stolk</a:t>
            </a:r>
            <a:endParaRPr lang="nl-NL" dirty="0"/>
          </a:p>
        </p:txBody>
      </p:sp>
    </p:spTree>
    <p:extLst>
      <p:ext uri="{BB962C8B-B14F-4D97-AF65-F5344CB8AC3E}">
        <p14:creationId xmlns:p14="http://schemas.microsoft.com/office/powerpoint/2010/main" val="480999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5F1D3C-A0B3-4987-BED8-CC5C7D8BED35}"/>
              </a:ext>
            </a:extLst>
          </p:cNvPr>
          <p:cNvSpPr>
            <a:spLocks noGrp="1"/>
          </p:cNvSpPr>
          <p:nvPr>
            <p:ph type="title"/>
          </p:nvPr>
        </p:nvSpPr>
        <p:spPr/>
        <p:txBody>
          <a:bodyPr>
            <a:normAutofit fontScale="90000"/>
          </a:bodyPr>
          <a:lstStyle/>
          <a:p>
            <a:r>
              <a:rPr lang="en-US" dirty="0" err="1"/>
              <a:t>Achtergrond</a:t>
            </a:r>
            <a:r>
              <a:rPr lang="en-US" dirty="0"/>
              <a:t> VWM</a:t>
            </a:r>
            <a:endParaRPr lang="nl-NL" dirty="0"/>
          </a:p>
        </p:txBody>
      </p:sp>
      <p:sp>
        <p:nvSpPr>
          <p:cNvPr id="3" name="Ondertitel 2">
            <a:extLst>
              <a:ext uri="{FF2B5EF4-FFF2-40B4-BE49-F238E27FC236}">
                <a16:creationId xmlns:a16="http://schemas.microsoft.com/office/drawing/2014/main" id="{14B40E2E-927C-4807-A308-E6E754B90158}"/>
              </a:ext>
            </a:extLst>
          </p:cNvPr>
          <p:cNvSpPr>
            <a:spLocks noGrp="1"/>
          </p:cNvSpPr>
          <p:nvPr>
            <p:ph type="subTitle" idx="1"/>
          </p:nvPr>
        </p:nvSpPr>
        <p:spPr/>
        <p:txBody>
          <a:bodyPr>
            <a:normAutofit fontScale="47500" lnSpcReduction="20000"/>
          </a:bodyPr>
          <a:lstStyle/>
          <a:p>
            <a:pPr marL="0" indent="0" algn="l">
              <a:buNone/>
            </a:pPr>
            <a:r>
              <a:rPr lang="nl-NL" b="1" i="0" dirty="0">
                <a:solidFill>
                  <a:srgbClr val="333333"/>
                </a:solidFill>
                <a:effectLst/>
                <a:latin typeface="-apple-system"/>
              </a:rPr>
              <a:t>Doelstelling</a:t>
            </a:r>
          </a:p>
          <a:p>
            <a:pPr marL="0" indent="0" algn="l">
              <a:buNone/>
            </a:pPr>
            <a:r>
              <a:rPr lang="nl-NL" b="0" i="0" dirty="0">
                <a:solidFill>
                  <a:srgbClr val="333333"/>
                </a:solidFill>
                <a:effectLst/>
                <a:latin typeface="-apple-system"/>
              </a:rPr>
              <a:t>Het patroon beschrijft op conceptueel niveau hoe de politie op generieke wijze 'in de administraties' invulling geeft aan:</a:t>
            </a:r>
          </a:p>
          <a:p>
            <a:pPr algn="l">
              <a:buFont typeface="Arial" panose="020B0604020202020204" pitchFamily="34" charset="0"/>
              <a:buChar char="•"/>
            </a:pPr>
            <a:r>
              <a:rPr lang="nl-NL" b="0" i="0" dirty="0">
                <a:solidFill>
                  <a:srgbClr val="333333"/>
                </a:solidFill>
                <a:effectLst/>
                <a:latin typeface="-apple-system"/>
              </a:rPr>
              <a:t>traceerbaarheid van het ontstaan en wijzigen van gegevens</a:t>
            </a:r>
          </a:p>
          <a:p>
            <a:pPr algn="l">
              <a:buFont typeface="Arial" panose="020B0604020202020204" pitchFamily="34" charset="0"/>
              <a:buChar char="•"/>
            </a:pPr>
            <a:r>
              <a:rPr lang="nl-NL" b="0" i="0" dirty="0">
                <a:solidFill>
                  <a:srgbClr val="333333"/>
                </a:solidFill>
                <a:effectLst/>
                <a:latin typeface="-apple-system"/>
              </a:rPr>
              <a:t>tijdreizen</a:t>
            </a:r>
          </a:p>
          <a:p>
            <a:pPr algn="l">
              <a:buFont typeface="Arial" panose="020B0604020202020204" pitchFamily="34" charset="0"/>
              <a:buChar char="•"/>
            </a:pPr>
            <a:r>
              <a:rPr lang="nl-NL" b="0" i="0" dirty="0">
                <a:solidFill>
                  <a:srgbClr val="333333"/>
                </a:solidFill>
                <a:effectLst/>
                <a:latin typeface="-apple-system"/>
              </a:rPr>
              <a:t>autorisatie op gegevens</a:t>
            </a:r>
          </a:p>
          <a:p>
            <a:pPr algn="l">
              <a:buFont typeface="Arial" panose="020B0604020202020204" pitchFamily="34" charset="0"/>
              <a:buChar char="•"/>
            </a:pPr>
            <a:r>
              <a:rPr lang="nl-NL" b="0" i="0" dirty="0">
                <a:solidFill>
                  <a:srgbClr val="333333"/>
                </a:solidFill>
                <a:effectLst/>
                <a:latin typeface="-apple-system"/>
              </a:rPr>
              <a:t>eenmalige vastlegging en meervoudig gebruik</a:t>
            </a:r>
          </a:p>
          <a:p>
            <a:pPr marL="0" indent="0" algn="l">
              <a:buNone/>
            </a:pPr>
            <a:r>
              <a:rPr lang="nl-NL" b="0" i="0" dirty="0">
                <a:solidFill>
                  <a:srgbClr val="333333"/>
                </a:solidFill>
                <a:effectLst/>
                <a:latin typeface="-apple-system"/>
              </a:rPr>
              <a:t>Door toepassing van het patroon borgen we dat van ieder gegeven het volgende bekend is:</a:t>
            </a:r>
          </a:p>
          <a:p>
            <a:pPr algn="l">
              <a:buFont typeface="+mj-lt"/>
              <a:buAutoNum type="arabicPeriod"/>
            </a:pPr>
            <a:r>
              <a:rPr lang="nl-NL" b="0" i="0" dirty="0">
                <a:solidFill>
                  <a:srgbClr val="333333"/>
                </a:solidFill>
                <a:effectLst/>
                <a:latin typeface="-apple-system"/>
              </a:rPr>
              <a:t>Werkcontext: (Waarom hebben we het gegeven? Bij welke politietaak en-dossier hoort het?)</a:t>
            </a:r>
          </a:p>
          <a:p>
            <a:pPr algn="l">
              <a:buFont typeface="+mj-lt"/>
              <a:buAutoNum type="arabicPeriod"/>
            </a:pPr>
            <a:r>
              <a:rPr lang="nl-NL" b="0" i="0" dirty="0">
                <a:solidFill>
                  <a:srgbClr val="333333"/>
                </a:solidFill>
                <a:effectLst/>
                <a:latin typeface="-apple-system"/>
              </a:rPr>
              <a:t>Herkomst (Van welke bron is het gegeven afkomstig en welke verificatie is gebeurd?)</a:t>
            </a:r>
          </a:p>
          <a:p>
            <a:pPr algn="l">
              <a:buFont typeface="+mj-lt"/>
              <a:buAutoNum type="arabicPeriod"/>
            </a:pPr>
            <a:r>
              <a:rPr lang="nl-NL" b="0" i="0" dirty="0">
                <a:solidFill>
                  <a:srgbClr val="333333"/>
                </a:solidFill>
                <a:effectLst/>
                <a:latin typeface="-apple-system"/>
              </a:rPr>
              <a:t>Autorisatiecontext: (Welke autorisatie is nodig voor het (verder) verwerken van het gegeven?)</a:t>
            </a:r>
          </a:p>
          <a:p>
            <a:pPr algn="l">
              <a:buFont typeface="+mj-lt"/>
              <a:buAutoNum type="arabicPeriod"/>
            </a:pPr>
            <a:r>
              <a:rPr lang="nl-NL" b="0" i="0" dirty="0">
                <a:solidFill>
                  <a:srgbClr val="333333"/>
                </a:solidFill>
                <a:effectLst/>
                <a:latin typeface="-apple-system"/>
              </a:rPr>
              <a:t>Hergebruikcontext: (Waar wordt hetzelfde gegeven nog meer gebruik?)  </a:t>
            </a:r>
          </a:p>
          <a:p>
            <a:pPr algn="l">
              <a:buFont typeface="+mj-lt"/>
              <a:buAutoNum type="arabicPeriod"/>
            </a:pPr>
            <a:r>
              <a:rPr lang="nl-NL" b="0" i="0" dirty="0">
                <a:solidFill>
                  <a:srgbClr val="333333"/>
                </a:solidFill>
                <a:effectLst/>
                <a:latin typeface="-apple-system"/>
              </a:rPr>
              <a:t>Verwerkingsgeschiedenis: (Welke verwerkingen 'transacties' zijn er allemaal op het gegeven geweest?)</a:t>
            </a:r>
          </a:p>
          <a:p>
            <a:pPr algn="l">
              <a:buFont typeface="+mj-lt"/>
              <a:buAutoNum type="arabicPeriod"/>
            </a:pPr>
            <a:r>
              <a:rPr lang="nl-NL" b="0" i="0" dirty="0">
                <a:solidFill>
                  <a:srgbClr val="333333"/>
                </a:solidFill>
                <a:effectLst/>
                <a:latin typeface="-apple-system"/>
              </a:rPr>
              <a:t>Tijdperspectief: (Wat was de verzamelde kennis op een gegeven moment in de tijd?)</a:t>
            </a:r>
          </a:p>
          <a:p>
            <a:pPr marL="0" indent="0">
              <a:buNone/>
            </a:pPr>
            <a:endParaRPr lang="nl-NL" dirty="0"/>
          </a:p>
        </p:txBody>
      </p:sp>
    </p:spTree>
    <p:extLst>
      <p:ext uri="{BB962C8B-B14F-4D97-AF65-F5344CB8AC3E}">
        <p14:creationId xmlns:p14="http://schemas.microsoft.com/office/powerpoint/2010/main" val="2747001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5A75D9-471E-4262-8D58-E2FFD65F5802}"/>
              </a:ext>
            </a:extLst>
          </p:cNvPr>
          <p:cNvSpPr>
            <a:spLocks noGrp="1"/>
          </p:cNvSpPr>
          <p:nvPr>
            <p:ph type="title"/>
          </p:nvPr>
        </p:nvSpPr>
        <p:spPr/>
        <p:txBody>
          <a:bodyPr>
            <a:normAutofit fontScale="90000"/>
          </a:bodyPr>
          <a:lstStyle/>
          <a:p>
            <a:r>
              <a:rPr lang="nl-NL" sz="4900" b="1" i="0" dirty="0">
                <a:solidFill>
                  <a:srgbClr val="172B4D"/>
                </a:solidFill>
                <a:effectLst/>
                <a:latin typeface="-apple-system"/>
              </a:rPr>
              <a:t>Informatieprincipes bij het verwerkingsmodel</a:t>
            </a:r>
            <a:br>
              <a:rPr lang="nl-NL" b="1" i="0" dirty="0">
                <a:solidFill>
                  <a:srgbClr val="172B4D"/>
                </a:solidFill>
                <a:effectLst/>
                <a:latin typeface="-apple-system"/>
              </a:rPr>
            </a:br>
            <a:endParaRPr lang="nl-NL" dirty="0"/>
          </a:p>
        </p:txBody>
      </p:sp>
      <p:sp>
        <p:nvSpPr>
          <p:cNvPr id="3" name="Ondertitel 2">
            <a:extLst>
              <a:ext uri="{FF2B5EF4-FFF2-40B4-BE49-F238E27FC236}">
                <a16:creationId xmlns:a16="http://schemas.microsoft.com/office/drawing/2014/main" id="{64484E69-AD41-4D2B-9247-AAE86C5E139E}"/>
              </a:ext>
            </a:extLst>
          </p:cNvPr>
          <p:cNvSpPr>
            <a:spLocks noGrp="1"/>
          </p:cNvSpPr>
          <p:nvPr>
            <p:ph type="subTitle" idx="1"/>
          </p:nvPr>
        </p:nvSpPr>
        <p:spPr/>
        <p:txBody>
          <a:bodyPr>
            <a:normAutofit fontScale="55000" lnSpcReduction="20000"/>
          </a:bodyPr>
          <a:lstStyle/>
          <a:p>
            <a:pPr algn="l"/>
            <a:r>
              <a:rPr lang="nl-NL" b="0" i="0" dirty="0">
                <a:solidFill>
                  <a:srgbClr val="172B4D"/>
                </a:solidFill>
                <a:effectLst/>
                <a:latin typeface="-apple-system"/>
              </a:rPr>
              <a:t>De informatieprincipes die in deze architectuur zijn afgeleide principes van de EA principe 3.</a:t>
            </a:r>
          </a:p>
          <a:p>
            <a:pPr algn="l">
              <a:buFont typeface="Arial" panose="020B0604020202020204" pitchFamily="34" charset="0"/>
              <a:buChar char="•"/>
            </a:pPr>
            <a:r>
              <a:rPr lang="nl-NL" b="0" i="0" dirty="0">
                <a:solidFill>
                  <a:srgbClr val="172B4D"/>
                </a:solidFill>
                <a:effectLst/>
                <a:latin typeface="-apple-system"/>
              </a:rPr>
              <a:t>Ieder herbruikbaar gegeven wordt </a:t>
            </a:r>
            <a:r>
              <a:rPr lang="nl-NL" b="0" i="0" u="sng" dirty="0">
                <a:solidFill>
                  <a:srgbClr val="172B4D"/>
                </a:solidFill>
                <a:effectLst/>
                <a:latin typeface="-apple-system"/>
              </a:rPr>
              <a:t>altijd</a:t>
            </a:r>
            <a:r>
              <a:rPr lang="nl-NL" b="0" i="0" dirty="0">
                <a:solidFill>
                  <a:srgbClr val="172B4D"/>
                </a:solidFill>
                <a:effectLst/>
                <a:latin typeface="-apple-system"/>
              </a:rPr>
              <a:t> op een standaard manier beschikbaar gesteld voor hergebruik. </a:t>
            </a:r>
          </a:p>
          <a:p>
            <a:pPr algn="l">
              <a:buFont typeface="Arial" panose="020B0604020202020204" pitchFamily="34" charset="0"/>
              <a:buChar char="•"/>
            </a:pPr>
            <a:r>
              <a:rPr lang="nl-NL" b="0" i="0" dirty="0">
                <a:solidFill>
                  <a:srgbClr val="172B4D"/>
                </a:solidFill>
                <a:effectLst/>
                <a:latin typeface="-apple-system"/>
              </a:rPr>
              <a:t>Ieder herbruikbaar gegeven wordt </a:t>
            </a:r>
            <a:r>
              <a:rPr lang="nl-NL" b="0" i="0" u="sng" dirty="0">
                <a:solidFill>
                  <a:srgbClr val="172B4D"/>
                </a:solidFill>
                <a:effectLst/>
                <a:latin typeface="-apple-system"/>
              </a:rPr>
              <a:t>altijd</a:t>
            </a:r>
            <a:r>
              <a:rPr lang="nl-NL" b="0" i="0" dirty="0">
                <a:solidFill>
                  <a:srgbClr val="172B4D"/>
                </a:solidFill>
                <a:effectLst/>
                <a:latin typeface="-apple-system"/>
              </a:rPr>
              <a:t> op een standaard manier in iedere registratie 'in context' worden genomen.</a:t>
            </a:r>
          </a:p>
          <a:p>
            <a:pPr algn="l">
              <a:buFont typeface="Arial" panose="020B0604020202020204" pitchFamily="34" charset="0"/>
              <a:buChar char="•"/>
            </a:pPr>
            <a:r>
              <a:rPr lang="nl-NL" b="0" i="0" dirty="0">
                <a:solidFill>
                  <a:srgbClr val="172B4D"/>
                </a:solidFill>
                <a:effectLst/>
                <a:latin typeface="-apple-system"/>
              </a:rPr>
              <a:t>Van ieder gegeven is </a:t>
            </a:r>
            <a:r>
              <a:rPr lang="nl-NL" b="0" i="0" u="sng" dirty="0">
                <a:solidFill>
                  <a:srgbClr val="172B4D"/>
                </a:solidFill>
                <a:effectLst/>
                <a:latin typeface="-apple-system"/>
              </a:rPr>
              <a:t>altijd</a:t>
            </a:r>
            <a:r>
              <a:rPr lang="nl-NL" b="0" i="0" dirty="0">
                <a:solidFill>
                  <a:srgbClr val="172B4D"/>
                </a:solidFill>
                <a:effectLst/>
                <a:latin typeface="-apple-system"/>
              </a:rPr>
              <a:t> bekend waarom we het gegeven hebben.</a:t>
            </a:r>
          </a:p>
          <a:p>
            <a:pPr algn="l">
              <a:buFont typeface="Arial" panose="020B0604020202020204" pitchFamily="34" charset="0"/>
              <a:buChar char="•"/>
            </a:pPr>
            <a:r>
              <a:rPr lang="nl-NL" b="0" i="0" dirty="0">
                <a:solidFill>
                  <a:srgbClr val="172B4D"/>
                </a:solidFill>
                <a:effectLst/>
                <a:latin typeface="-apple-system"/>
              </a:rPr>
              <a:t>Van ieder gegeven is </a:t>
            </a:r>
            <a:r>
              <a:rPr lang="nl-NL" b="0" i="0" u="sng" dirty="0">
                <a:solidFill>
                  <a:srgbClr val="172B4D"/>
                </a:solidFill>
                <a:effectLst/>
                <a:latin typeface="-apple-system"/>
              </a:rPr>
              <a:t>altijd </a:t>
            </a:r>
            <a:r>
              <a:rPr lang="nl-NL" b="0" i="0" dirty="0">
                <a:solidFill>
                  <a:srgbClr val="172B4D"/>
                </a:solidFill>
                <a:effectLst/>
                <a:latin typeface="-apple-system"/>
              </a:rPr>
              <a:t>bekend in welke registraties het een rol speelt en welke rol dat is.</a:t>
            </a:r>
          </a:p>
          <a:p>
            <a:pPr algn="l">
              <a:buFont typeface="Arial" panose="020B0604020202020204" pitchFamily="34" charset="0"/>
              <a:buChar char="•"/>
            </a:pPr>
            <a:r>
              <a:rPr lang="nl-NL" b="0" i="0" dirty="0">
                <a:solidFill>
                  <a:srgbClr val="172B4D"/>
                </a:solidFill>
                <a:effectLst/>
                <a:latin typeface="-apple-system"/>
              </a:rPr>
              <a:t>Bij ieder gegeven is </a:t>
            </a:r>
            <a:r>
              <a:rPr lang="nl-NL" b="0" i="0" u="sng" dirty="0">
                <a:solidFill>
                  <a:srgbClr val="172B4D"/>
                </a:solidFill>
                <a:effectLst/>
                <a:latin typeface="-apple-system"/>
              </a:rPr>
              <a:t>altijd</a:t>
            </a:r>
            <a:r>
              <a:rPr lang="nl-NL" b="0" i="0" dirty="0">
                <a:solidFill>
                  <a:srgbClr val="172B4D"/>
                </a:solidFill>
                <a:effectLst/>
                <a:latin typeface="-apple-system"/>
              </a:rPr>
              <a:t> metadata beschikbaar om de autorisatiebeslissing te kunnen nemen.</a:t>
            </a:r>
          </a:p>
          <a:p>
            <a:pPr algn="l">
              <a:buFont typeface="Arial" panose="020B0604020202020204" pitchFamily="34" charset="0"/>
              <a:buChar char="•"/>
            </a:pPr>
            <a:r>
              <a:rPr lang="nl-NL" b="0" i="0" dirty="0">
                <a:solidFill>
                  <a:srgbClr val="172B4D"/>
                </a:solidFill>
                <a:effectLst/>
                <a:latin typeface="-apple-system"/>
              </a:rPr>
              <a:t>Van ieder gegeven is </a:t>
            </a:r>
            <a:r>
              <a:rPr lang="nl-NL" b="0" i="0" u="sng" dirty="0">
                <a:solidFill>
                  <a:srgbClr val="172B4D"/>
                </a:solidFill>
                <a:effectLst/>
                <a:latin typeface="-apple-system"/>
              </a:rPr>
              <a:t>altijd </a:t>
            </a:r>
            <a:r>
              <a:rPr lang="nl-NL" b="0" i="0" dirty="0">
                <a:solidFill>
                  <a:srgbClr val="172B4D"/>
                </a:solidFill>
                <a:effectLst/>
                <a:latin typeface="-apple-system"/>
              </a:rPr>
              <a:t>bekend welke verwerkingen er op hebben plaatsgevonden</a:t>
            </a:r>
          </a:p>
          <a:p>
            <a:pPr algn="l">
              <a:buFont typeface="Arial" panose="020B0604020202020204" pitchFamily="34" charset="0"/>
              <a:buChar char="•"/>
            </a:pPr>
            <a:r>
              <a:rPr lang="nl-NL" b="0" i="0" dirty="0">
                <a:solidFill>
                  <a:srgbClr val="172B4D"/>
                </a:solidFill>
                <a:effectLst/>
                <a:latin typeface="-apple-system"/>
              </a:rPr>
              <a:t>'Metadata is data' en is toegankelijk.</a:t>
            </a:r>
          </a:p>
          <a:p>
            <a:pPr marL="0" indent="0">
              <a:buNone/>
            </a:pPr>
            <a:endParaRPr lang="nl-NL" dirty="0"/>
          </a:p>
        </p:txBody>
      </p:sp>
    </p:spTree>
    <p:extLst>
      <p:ext uri="{BB962C8B-B14F-4D97-AF65-F5344CB8AC3E}">
        <p14:creationId xmlns:p14="http://schemas.microsoft.com/office/powerpoint/2010/main" val="1611740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42B2E6-5B7A-48C3-86A2-30A43318AC9C}"/>
              </a:ext>
            </a:extLst>
          </p:cNvPr>
          <p:cNvSpPr>
            <a:spLocks noGrp="1"/>
          </p:cNvSpPr>
          <p:nvPr>
            <p:ph type="title"/>
          </p:nvPr>
        </p:nvSpPr>
        <p:spPr/>
        <p:txBody>
          <a:bodyPr>
            <a:normAutofit fontScale="90000"/>
          </a:bodyPr>
          <a:lstStyle/>
          <a:p>
            <a:r>
              <a:rPr lang="en-US" dirty="0" err="1"/>
              <a:t>Ontwerpbeslissingen</a:t>
            </a:r>
            <a:endParaRPr lang="nl-NL" dirty="0"/>
          </a:p>
        </p:txBody>
      </p:sp>
      <p:sp>
        <p:nvSpPr>
          <p:cNvPr id="3" name="Ondertitel 2">
            <a:extLst>
              <a:ext uri="{FF2B5EF4-FFF2-40B4-BE49-F238E27FC236}">
                <a16:creationId xmlns:a16="http://schemas.microsoft.com/office/drawing/2014/main" id="{9DB39E71-808C-469E-B372-663FB33DDE5B}"/>
              </a:ext>
            </a:extLst>
          </p:cNvPr>
          <p:cNvSpPr>
            <a:spLocks noGrp="1"/>
          </p:cNvSpPr>
          <p:nvPr>
            <p:ph type="subTitle" idx="1"/>
          </p:nvPr>
        </p:nvSpPr>
        <p:spPr/>
        <p:txBody>
          <a:bodyPr>
            <a:normAutofit fontScale="32500" lnSpcReduction="20000"/>
          </a:bodyPr>
          <a:lstStyle/>
          <a:p>
            <a:pPr algn="l">
              <a:buFont typeface="Arial" panose="020B0604020202020204" pitchFamily="34" charset="0"/>
              <a:buChar char="•"/>
            </a:pPr>
            <a:r>
              <a:rPr lang="nl-NL" sz="4900" b="0" i="0" dirty="0">
                <a:solidFill>
                  <a:srgbClr val="172B4D"/>
                </a:solidFill>
                <a:effectLst/>
                <a:latin typeface="-apple-system"/>
              </a:rPr>
              <a:t>De uitwerking m.b.t. </a:t>
            </a:r>
            <a:r>
              <a:rPr lang="nl-NL" sz="4900" b="1" i="0" dirty="0">
                <a:solidFill>
                  <a:srgbClr val="172B4D"/>
                </a:solidFill>
                <a:effectLst/>
                <a:latin typeface="-apple-system"/>
              </a:rPr>
              <a:t>autorisatiemanagement</a:t>
            </a:r>
            <a:r>
              <a:rPr lang="nl-NL" sz="4900" b="0" i="0" dirty="0">
                <a:solidFill>
                  <a:srgbClr val="172B4D"/>
                </a:solidFill>
                <a:effectLst/>
                <a:latin typeface="-apple-system"/>
              </a:rPr>
              <a:t> (opgeleverd door de autorisatiewerkgroep) is leidend. Deze wordt 1-op-1 toegepast. Zie </a:t>
            </a:r>
            <a:r>
              <a:rPr lang="nl-NL" sz="4900" b="0" i="0" dirty="0">
                <a:solidFill>
                  <a:srgbClr val="0052CC"/>
                </a:solidFill>
                <a:effectLst/>
                <a:latin typeface="-apple-system"/>
                <a:hlinkClick r:id="rId2"/>
              </a:rPr>
              <a:t>deelarchitectuur Autorisatiemanagement</a:t>
            </a:r>
            <a:r>
              <a:rPr lang="nl-NL" sz="4900" b="0" i="0" dirty="0">
                <a:solidFill>
                  <a:srgbClr val="172B4D"/>
                </a:solidFill>
                <a:effectLst/>
                <a:latin typeface="-apple-system"/>
              </a:rPr>
              <a:t>.</a:t>
            </a:r>
          </a:p>
          <a:p>
            <a:pPr algn="l">
              <a:buFont typeface="Arial" panose="020B0604020202020204" pitchFamily="34" charset="0"/>
              <a:buChar char="•"/>
            </a:pPr>
            <a:r>
              <a:rPr lang="nl-NL" sz="4900" b="0" i="0" dirty="0">
                <a:solidFill>
                  <a:srgbClr val="172B4D"/>
                </a:solidFill>
                <a:effectLst/>
                <a:latin typeface="-apple-system"/>
              </a:rPr>
              <a:t>Modelonafhankelijkheid. Het verwerkingsmodel schrijft niet voor wat de 'juiste gegevens' zijn. Het verwerkingsmodel is wel expliciet over de metadata die bij de gegevens wordt gevoegd om de genoemde doelstellingen uitvoerbaar te maken.</a:t>
            </a:r>
          </a:p>
          <a:p>
            <a:pPr algn="l">
              <a:buFont typeface="Arial" panose="020B0604020202020204" pitchFamily="34" charset="0"/>
              <a:buChar char="•"/>
            </a:pPr>
            <a:r>
              <a:rPr lang="nl-NL" sz="4900" b="0" i="0" dirty="0">
                <a:solidFill>
                  <a:srgbClr val="172B4D"/>
                </a:solidFill>
                <a:effectLst/>
                <a:latin typeface="-apple-system"/>
              </a:rPr>
              <a:t>Het model dwingt (op conceptueel niveau) een uniforme manier van </a:t>
            </a:r>
            <a:r>
              <a:rPr lang="nl-NL" sz="4900" b="0" i="0" dirty="0" err="1">
                <a:solidFill>
                  <a:srgbClr val="172B4D"/>
                </a:solidFill>
                <a:effectLst/>
                <a:latin typeface="-apple-system"/>
              </a:rPr>
              <a:t>metadateren</a:t>
            </a:r>
            <a:r>
              <a:rPr lang="nl-NL" sz="4900" b="0" i="0" dirty="0">
                <a:solidFill>
                  <a:srgbClr val="172B4D"/>
                </a:solidFill>
                <a:effectLst/>
                <a:latin typeface="-apple-system"/>
              </a:rPr>
              <a:t> af zodat deze metadata </a:t>
            </a:r>
            <a:r>
              <a:rPr lang="nl-NL" sz="4900" b="0" i="0" u="sng" dirty="0">
                <a:solidFill>
                  <a:srgbClr val="172B4D"/>
                </a:solidFill>
                <a:effectLst/>
                <a:latin typeface="-apple-system"/>
              </a:rPr>
              <a:t>altijd</a:t>
            </a:r>
            <a:r>
              <a:rPr lang="nl-NL" sz="4900" b="0" i="0" dirty="0">
                <a:solidFill>
                  <a:srgbClr val="172B4D"/>
                </a:solidFill>
                <a:effectLst/>
                <a:latin typeface="-apple-system"/>
              </a:rPr>
              <a:t> op dezelfde manier wordt vastgelegd. De ontwikkelaars in een </a:t>
            </a:r>
            <a:r>
              <a:rPr lang="nl-NL" sz="4900" b="0" i="0" dirty="0" err="1">
                <a:solidFill>
                  <a:srgbClr val="172B4D"/>
                </a:solidFill>
                <a:effectLst/>
                <a:latin typeface="-apple-system"/>
              </a:rPr>
              <a:t>feauture</a:t>
            </a:r>
            <a:r>
              <a:rPr lang="nl-NL" sz="4900" b="0" i="0" dirty="0">
                <a:solidFill>
                  <a:srgbClr val="172B4D"/>
                </a:solidFill>
                <a:effectLst/>
                <a:latin typeface="-apple-system"/>
              </a:rPr>
              <a:t> team worden 'ontzorgd' voor het </a:t>
            </a:r>
            <a:r>
              <a:rPr lang="nl-NL" sz="4900" b="0" i="0" dirty="0" err="1">
                <a:solidFill>
                  <a:srgbClr val="172B4D"/>
                </a:solidFill>
                <a:effectLst/>
                <a:latin typeface="-apple-system"/>
              </a:rPr>
              <a:t>metadateren</a:t>
            </a:r>
            <a:r>
              <a:rPr lang="nl-NL" sz="4900" b="0" i="0" dirty="0">
                <a:solidFill>
                  <a:srgbClr val="172B4D"/>
                </a:solidFill>
                <a:effectLst/>
                <a:latin typeface="-apple-system"/>
              </a:rPr>
              <a:t> van beschrijvingen, het vastleggen van de transacties/traceerbaarheid, het autoriseren etc. (zie ook volgende punt).</a:t>
            </a:r>
          </a:p>
          <a:p>
            <a:pPr algn="l">
              <a:buFont typeface="Arial" panose="020B0604020202020204" pitchFamily="34" charset="0"/>
              <a:buChar char="•"/>
            </a:pPr>
            <a:r>
              <a:rPr lang="nl-NL" sz="4900" b="0" i="0" dirty="0">
                <a:solidFill>
                  <a:srgbClr val="172B4D"/>
                </a:solidFill>
                <a:effectLst/>
                <a:latin typeface="-apple-system"/>
              </a:rPr>
              <a:t>Het model is declaratief vastgelegd zodat ook op een geautomatiseerde manier getest kan worden of gegevens er aan voldoen,</a:t>
            </a:r>
          </a:p>
          <a:p>
            <a:pPr algn="l">
              <a:buFont typeface="Arial" panose="020B0604020202020204" pitchFamily="34" charset="0"/>
              <a:buChar char="•"/>
            </a:pPr>
            <a:r>
              <a:rPr lang="nl-NL" sz="4900" b="0" i="0" dirty="0">
                <a:solidFill>
                  <a:srgbClr val="172B4D"/>
                </a:solidFill>
                <a:effectLst/>
                <a:latin typeface="-apple-system"/>
              </a:rPr>
              <a:t>Als een gegeven relevant is in meerdere registraties, dan wordt er </a:t>
            </a:r>
            <a:r>
              <a:rPr lang="nl-NL" sz="4900" b="0" i="0" u="sng" dirty="0">
                <a:solidFill>
                  <a:srgbClr val="172B4D"/>
                </a:solidFill>
                <a:effectLst/>
                <a:latin typeface="-apple-system"/>
              </a:rPr>
              <a:t>nooit </a:t>
            </a:r>
            <a:r>
              <a:rPr lang="nl-NL" sz="4900" b="0" i="0" dirty="0">
                <a:solidFill>
                  <a:srgbClr val="172B4D"/>
                </a:solidFill>
                <a:effectLst/>
                <a:latin typeface="-apple-system"/>
              </a:rPr>
              <a:t>gekopieerd maar verwezen.</a:t>
            </a:r>
          </a:p>
          <a:p>
            <a:pPr marL="742950" lvl="1" indent="-285750" algn="l">
              <a:buFont typeface="Arial" panose="020B0604020202020204" pitchFamily="34" charset="0"/>
              <a:buChar char="•"/>
            </a:pPr>
            <a:r>
              <a:rPr lang="nl-NL" sz="4900" b="0" i="0" dirty="0">
                <a:solidFill>
                  <a:srgbClr val="172B4D"/>
                </a:solidFill>
                <a:effectLst/>
                <a:latin typeface="-apple-system"/>
              </a:rPr>
              <a:t>Uiteraard is </a:t>
            </a:r>
            <a:r>
              <a:rPr lang="nl-NL" sz="4900" b="0" i="0" dirty="0" err="1">
                <a:solidFill>
                  <a:srgbClr val="172B4D"/>
                </a:solidFill>
                <a:effectLst/>
                <a:latin typeface="-apple-system"/>
              </a:rPr>
              <a:t>cashing</a:t>
            </a:r>
            <a:r>
              <a:rPr lang="nl-NL" sz="4900" b="0" i="0" dirty="0">
                <a:solidFill>
                  <a:srgbClr val="172B4D"/>
                </a:solidFill>
                <a:effectLst/>
                <a:latin typeface="-apple-system"/>
              </a:rPr>
              <a:t>, '</a:t>
            </a:r>
            <a:r>
              <a:rPr lang="nl-NL" sz="4900" b="0" i="0" dirty="0" err="1">
                <a:solidFill>
                  <a:srgbClr val="172B4D"/>
                </a:solidFill>
                <a:effectLst/>
                <a:latin typeface="-apple-system"/>
              </a:rPr>
              <a:t>materialized</a:t>
            </a:r>
            <a:r>
              <a:rPr lang="nl-NL" sz="4900" b="0" i="0" dirty="0">
                <a:solidFill>
                  <a:srgbClr val="172B4D"/>
                </a:solidFill>
                <a:effectLst/>
                <a:latin typeface="-apple-system"/>
              </a:rPr>
              <a:t> views',  </a:t>
            </a:r>
            <a:r>
              <a:rPr lang="nl-NL" sz="4900" b="0" i="0" dirty="0" err="1">
                <a:solidFill>
                  <a:srgbClr val="172B4D"/>
                </a:solidFill>
                <a:effectLst/>
                <a:latin typeface="-apple-system"/>
              </a:rPr>
              <a:t>etc</a:t>
            </a:r>
            <a:r>
              <a:rPr lang="nl-NL" sz="4900" b="0" i="0" dirty="0">
                <a:solidFill>
                  <a:srgbClr val="172B4D"/>
                </a:solidFill>
                <a:effectLst/>
                <a:latin typeface="-apple-system"/>
              </a:rPr>
              <a:t> een implementatiekeuze, maar op conceptueel niveau komt een gegeven maar 1 keer voor en wordt er verwezen.</a:t>
            </a:r>
          </a:p>
          <a:p>
            <a:pPr marL="742950" lvl="1" indent="-285750" algn="l">
              <a:buFont typeface="Arial" panose="020B0604020202020204" pitchFamily="34" charset="0"/>
              <a:buChar char="•"/>
            </a:pPr>
            <a:r>
              <a:rPr lang="nl-NL" sz="4900" b="0" i="0" dirty="0">
                <a:solidFill>
                  <a:srgbClr val="172B4D"/>
                </a:solidFill>
                <a:effectLst/>
                <a:latin typeface="-apple-system"/>
              </a:rPr>
              <a:t>Het verwerkingsmodel is gericht op het standaardiseren en afdwingen van deze verwijzingen.</a:t>
            </a:r>
          </a:p>
          <a:p>
            <a:pPr algn="l">
              <a:buFont typeface="Arial" panose="020B0604020202020204" pitchFamily="34" charset="0"/>
              <a:buChar char="•"/>
            </a:pPr>
            <a:r>
              <a:rPr lang="nl-NL" sz="4900" b="1" i="0" dirty="0">
                <a:solidFill>
                  <a:srgbClr val="172B4D"/>
                </a:solidFill>
                <a:effectLst/>
                <a:latin typeface="-apple-system"/>
              </a:rPr>
              <a:t>Multi administratieve werkelijkheid </a:t>
            </a:r>
            <a:r>
              <a:rPr lang="nl-NL" sz="4900" b="0" i="0" dirty="0">
                <a:solidFill>
                  <a:srgbClr val="172B4D"/>
                </a:solidFill>
                <a:effectLst/>
                <a:latin typeface="-apple-system"/>
              </a:rPr>
              <a:t>('</a:t>
            </a:r>
            <a:r>
              <a:rPr lang="nl-NL" sz="4900" b="0" i="0" dirty="0" err="1">
                <a:solidFill>
                  <a:srgbClr val="172B4D"/>
                </a:solidFill>
                <a:effectLst/>
                <a:latin typeface="-apple-system"/>
              </a:rPr>
              <a:t>multi</a:t>
            </a:r>
            <a:r>
              <a:rPr lang="nl-NL" sz="4900" b="0" i="0" dirty="0">
                <a:solidFill>
                  <a:srgbClr val="172B4D"/>
                </a:solidFill>
                <a:effectLst/>
                <a:latin typeface="-apple-system"/>
              </a:rPr>
              <a:t>-realiteit') </a:t>
            </a:r>
            <a:r>
              <a:rPr lang="nl-NL" sz="4900" b="0" i="1" dirty="0" err="1">
                <a:solidFill>
                  <a:srgbClr val="172B4D"/>
                </a:solidFill>
                <a:effectLst/>
                <a:latin typeface="-apple-system"/>
              </a:rPr>
              <a:t>by</a:t>
            </a:r>
            <a:r>
              <a:rPr lang="nl-NL" sz="4900" b="0" i="1" dirty="0">
                <a:solidFill>
                  <a:srgbClr val="172B4D"/>
                </a:solidFill>
                <a:effectLst/>
                <a:latin typeface="-apple-system"/>
              </a:rPr>
              <a:t> design. A</a:t>
            </a:r>
            <a:r>
              <a:rPr lang="nl-NL" sz="4900" b="0" i="0" dirty="0">
                <a:solidFill>
                  <a:srgbClr val="172B4D"/>
                </a:solidFill>
                <a:effectLst/>
                <a:latin typeface="-apple-system"/>
              </a:rPr>
              <a:t>ls Politie hebben we te maken met verschillende partijen (personen of instanties) die elk hun beeld van de werkelijkheid hebben. Van instanties komt dat tot ons via kopie van hun administraties, van personen via verschillende meldingen, aangifte, getuigenissen en verhoorverslagen. Deze beelden kunnen naast elkaar bestaan.</a:t>
            </a:r>
          </a:p>
          <a:p>
            <a:pPr algn="l">
              <a:buFont typeface="Arial" panose="020B0604020202020204" pitchFamily="34" charset="0"/>
              <a:buChar char="•"/>
            </a:pPr>
            <a:r>
              <a:rPr lang="nl-NL" sz="4900" b="1" i="0" dirty="0">
                <a:solidFill>
                  <a:srgbClr val="172B4D"/>
                </a:solidFill>
                <a:effectLst/>
                <a:latin typeface="-apple-system"/>
              </a:rPr>
              <a:t>Tijdsafhankelijk</a:t>
            </a:r>
            <a:r>
              <a:rPr lang="nl-NL" sz="4900" b="0" i="0" dirty="0">
                <a:solidFill>
                  <a:srgbClr val="172B4D"/>
                </a:solidFill>
                <a:effectLst/>
                <a:latin typeface="-apple-system"/>
              </a:rPr>
              <a:t> bevragen ('tijdreizen') </a:t>
            </a:r>
            <a:r>
              <a:rPr lang="nl-NL" sz="4900" b="0" i="1" dirty="0" err="1">
                <a:solidFill>
                  <a:srgbClr val="172B4D"/>
                </a:solidFill>
                <a:effectLst/>
                <a:latin typeface="-apple-system"/>
              </a:rPr>
              <a:t>by</a:t>
            </a:r>
            <a:r>
              <a:rPr lang="nl-NL" sz="4900" b="0" i="1" dirty="0">
                <a:solidFill>
                  <a:srgbClr val="172B4D"/>
                </a:solidFill>
                <a:effectLst/>
                <a:latin typeface="-apple-system"/>
              </a:rPr>
              <a:t> design.</a:t>
            </a:r>
            <a:endParaRPr lang="nl-NL" sz="4900" b="0" i="0" dirty="0">
              <a:solidFill>
                <a:srgbClr val="172B4D"/>
              </a:solidFill>
              <a:effectLst/>
              <a:latin typeface="-apple-system"/>
            </a:endParaRPr>
          </a:p>
          <a:p>
            <a:pPr algn="l">
              <a:buFont typeface="Arial" panose="020B0604020202020204" pitchFamily="34" charset="0"/>
              <a:buChar char="•"/>
            </a:pPr>
            <a:r>
              <a:rPr lang="nl-NL" sz="4900" b="1" i="1" dirty="0">
                <a:solidFill>
                  <a:srgbClr val="172B4D"/>
                </a:solidFill>
                <a:effectLst/>
                <a:latin typeface="-apple-system"/>
              </a:rPr>
              <a:t>Append </a:t>
            </a:r>
            <a:r>
              <a:rPr lang="nl-NL" sz="4900" b="1" i="1" dirty="0" err="1">
                <a:solidFill>
                  <a:srgbClr val="172B4D"/>
                </a:solidFill>
                <a:effectLst/>
                <a:latin typeface="-apple-system"/>
              </a:rPr>
              <a:t>only</a:t>
            </a:r>
            <a:r>
              <a:rPr lang="nl-NL" sz="4900" b="1" i="0" dirty="0">
                <a:solidFill>
                  <a:srgbClr val="172B4D"/>
                </a:solidFill>
                <a:effectLst/>
                <a:latin typeface="-apple-system"/>
              </a:rPr>
              <a:t> </a:t>
            </a:r>
          </a:p>
          <a:p>
            <a:pPr marL="0" indent="0">
              <a:buNone/>
            </a:pPr>
            <a:endParaRPr lang="nl-NL" dirty="0"/>
          </a:p>
        </p:txBody>
      </p:sp>
    </p:spTree>
    <p:extLst>
      <p:ext uri="{BB962C8B-B14F-4D97-AF65-F5344CB8AC3E}">
        <p14:creationId xmlns:p14="http://schemas.microsoft.com/office/powerpoint/2010/main" val="3666491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el 5">
            <a:extLst>
              <a:ext uri="{FF2B5EF4-FFF2-40B4-BE49-F238E27FC236}">
                <a16:creationId xmlns:a16="http://schemas.microsoft.com/office/drawing/2014/main" id="{7B615BD5-8A85-4794-A037-DCDEC528FFA8}"/>
              </a:ext>
            </a:extLst>
          </p:cNvPr>
          <p:cNvGraphicFramePr>
            <a:graphicFrameLocks noGrp="1"/>
          </p:cNvGraphicFramePr>
          <p:nvPr>
            <p:extLst>
              <p:ext uri="{D42A27DB-BD31-4B8C-83A1-F6EECF244321}">
                <p14:modId xmlns:p14="http://schemas.microsoft.com/office/powerpoint/2010/main" val="3139898761"/>
              </p:ext>
            </p:extLst>
          </p:nvPr>
        </p:nvGraphicFramePr>
        <p:xfrm>
          <a:off x="453999" y="324908"/>
          <a:ext cx="5642002" cy="5833179"/>
        </p:xfrm>
        <a:graphic>
          <a:graphicData uri="http://schemas.openxmlformats.org/drawingml/2006/table">
            <a:tbl>
              <a:tblPr/>
              <a:tblGrid>
                <a:gridCol w="5642002">
                  <a:extLst>
                    <a:ext uri="{9D8B030D-6E8A-4147-A177-3AD203B41FA5}">
                      <a16:colId xmlns:a16="http://schemas.microsoft.com/office/drawing/2014/main" val="101908873"/>
                    </a:ext>
                  </a:extLst>
                </a:gridCol>
              </a:tblGrid>
              <a:tr h="558823">
                <a:tc>
                  <a:txBody>
                    <a:bodyPr/>
                    <a:lstStyle/>
                    <a:p>
                      <a:pPr algn="l" fontAlgn="t"/>
                      <a:r>
                        <a:rPr lang="nl-NL" b="1" dirty="0" err="1">
                          <a:solidFill>
                            <a:srgbClr val="172B4D"/>
                          </a:solidFill>
                          <a:effectLst/>
                        </a:rPr>
                        <a:t>Provenance</a:t>
                      </a:r>
                      <a:r>
                        <a:rPr lang="nl-NL" b="1" dirty="0">
                          <a:solidFill>
                            <a:srgbClr val="172B4D"/>
                          </a:solidFill>
                          <a:effectLst/>
                        </a:rPr>
                        <a:t> (PROV-O)</a:t>
                      </a:r>
                    </a:p>
                  </a:txBody>
                  <a:tcPr marL="95250" marR="142875"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4F5F7"/>
                    </a:solidFill>
                  </a:tcPr>
                </a:tc>
                <a:extLst>
                  <a:ext uri="{0D108BD9-81ED-4DB2-BD59-A6C34878D82A}">
                    <a16:rowId xmlns:a16="http://schemas.microsoft.com/office/drawing/2014/main" val="2116184915"/>
                  </a:ext>
                </a:extLst>
              </a:tr>
              <a:tr h="558823">
                <a:tc>
                  <a:txBody>
                    <a:bodyPr/>
                    <a:lstStyle/>
                    <a:p>
                      <a:pPr algn="l" fontAlgn="t"/>
                      <a:endParaRPr lang="nl-NL" b="1" dirty="0">
                        <a:solidFill>
                          <a:srgbClr val="172B4D"/>
                        </a:solidFill>
                        <a:effectLst/>
                      </a:endParaRPr>
                    </a:p>
                  </a:txBody>
                  <a:tcPr marL="95250" marR="142875"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solidFill>
                      <a:srgbClr val="F4F5F7"/>
                    </a:solidFill>
                  </a:tcPr>
                </a:tc>
                <a:extLst>
                  <a:ext uri="{0D108BD9-81ED-4DB2-BD59-A6C34878D82A}">
                    <a16:rowId xmlns:a16="http://schemas.microsoft.com/office/drawing/2014/main" val="1963409587"/>
                  </a:ext>
                </a:extLst>
              </a:tr>
              <a:tr h="3834977">
                <a:tc>
                  <a:txBody>
                    <a:bodyPr/>
                    <a:lstStyle/>
                    <a:p>
                      <a:pPr algn="l" fontAlgn="t"/>
                      <a:r>
                        <a:rPr lang="en-US" dirty="0">
                          <a:effectLst/>
                        </a:rPr>
                        <a:t>Provenance is information about entities, activities, and people involved in producing a piece of data or thing, which can be used to form assessments about its </a:t>
                      </a:r>
                      <a:r>
                        <a:rPr lang="en-US" b="1" dirty="0">
                          <a:effectLst/>
                        </a:rPr>
                        <a:t>quality, reliability or trustworthiness</a:t>
                      </a:r>
                      <a:r>
                        <a:rPr lang="en-US" dirty="0">
                          <a:effectLst/>
                        </a:rPr>
                        <a:t>. The PROV Family of Documents defines a model, corresponding serializations and other supporting definitions to enable the inter-operable interchange of provenance information in heterogeneous environments such as the Web. </a:t>
                      </a: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tcPr>
                </a:tc>
                <a:extLst>
                  <a:ext uri="{0D108BD9-81ED-4DB2-BD59-A6C34878D82A}">
                    <a16:rowId xmlns:a16="http://schemas.microsoft.com/office/drawing/2014/main" val="4247826523"/>
                  </a:ext>
                </a:extLst>
              </a:tr>
              <a:tr h="558823">
                <a:tc>
                  <a:txBody>
                    <a:bodyPr/>
                    <a:lstStyle/>
                    <a:p>
                      <a:pPr algn="l" fontAlgn="t"/>
                      <a:endParaRPr lang="nl-NL" dirty="0">
                        <a:effectLst/>
                      </a:endParaRPr>
                    </a:p>
                  </a:txBody>
                  <a:tcPr marL="95250" marR="95250" marT="66675" marB="66675">
                    <a:lnL w="9525" cap="flat" cmpd="sng" algn="ctr">
                      <a:solidFill>
                        <a:srgbClr val="C1C7D0"/>
                      </a:solidFill>
                      <a:prstDash val="solid"/>
                      <a:round/>
                      <a:headEnd type="none" w="med" len="med"/>
                      <a:tailEnd type="none" w="med" len="med"/>
                    </a:lnL>
                    <a:lnR w="9525" cap="flat" cmpd="sng" algn="ctr">
                      <a:solidFill>
                        <a:srgbClr val="C1C7D0"/>
                      </a:solidFill>
                      <a:prstDash val="solid"/>
                      <a:round/>
                      <a:headEnd type="none" w="med" len="med"/>
                      <a:tailEnd type="none" w="med" len="med"/>
                    </a:lnR>
                    <a:lnT w="9525" cap="flat" cmpd="sng" algn="ctr">
                      <a:solidFill>
                        <a:srgbClr val="C1C7D0"/>
                      </a:solidFill>
                      <a:prstDash val="solid"/>
                      <a:round/>
                      <a:headEnd type="none" w="med" len="med"/>
                      <a:tailEnd type="none" w="med" len="med"/>
                    </a:lnT>
                    <a:lnB w="9525" cap="flat" cmpd="sng" algn="ctr">
                      <a:solidFill>
                        <a:srgbClr val="C1C7D0"/>
                      </a:solidFill>
                      <a:prstDash val="solid"/>
                      <a:round/>
                      <a:headEnd type="none" w="med" len="med"/>
                      <a:tailEnd type="none" w="med" len="med"/>
                    </a:lnB>
                  </a:tcPr>
                </a:tc>
                <a:extLst>
                  <a:ext uri="{0D108BD9-81ED-4DB2-BD59-A6C34878D82A}">
                    <a16:rowId xmlns:a16="http://schemas.microsoft.com/office/drawing/2014/main" val="1473841443"/>
                  </a:ext>
                </a:extLst>
              </a:tr>
            </a:tbl>
          </a:graphicData>
        </a:graphic>
      </p:graphicFrame>
      <p:pic>
        <p:nvPicPr>
          <p:cNvPr id="8" name="Afbeelding 7">
            <a:extLst>
              <a:ext uri="{FF2B5EF4-FFF2-40B4-BE49-F238E27FC236}">
                <a16:creationId xmlns:a16="http://schemas.microsoft.com/office/drawing/2014/main" id="{502DF03E-4652-4E76-AF27-D95B44199B81}"/>
              </a:ext>
            </a:extLst>
          </p:cNvPr>
          <p:cNvPicPr>
            <a:picLocks noChangeAspect="1"/>
          </p:cNvPicPr>
          <p:nvPr/>
        </p:nvPicPr>
        <p:blipFill>
          <a:blip r:embed="rId2"/>
          <a:stretch>
            <a:fillRect/>
          </a:stretch>
        </p:blipFill>
        <p:spPr>
          <a:xfrm>
            <a:off x="6515406" y="1344170"/>
            <a:ext cx="4984443" cy="3794654"/>
          </a:xfrm>
          <a:prstGeom prst="rect">
            <a:avLst/>
          </a:prstGeom>
        </p:spPr>
      </p:pic>
    </p:spTree>
    <p:extLst>
      <p:ext uri="{BB962C8B-B14F-4D97-AF65-F5344CB8AC3E}">
        <p14:creationId xmlns:p14="http://schemas.microsoft.com/office/powerpoint/2010/main" val="1815392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DFB5BE-7D4D-4019-A55F-CE396152B969}"/>
              </a:ext>
            </a:extLst>
          </p:cNvPr>
          <p:cNvSpPr>
            <a:spLocks noGrp="1"/>
          </p:cNvSpPr>
          <p:nvPr>
            <p:ph type="title"/>
          </p:nvPr>
        </p:nvSpPr>
        <p:spPr/>
        <p:txBody>
          <a:bodyPr>
            <a:normAutofit fontScale="90000"/>
          </a:bodyPr>
          <a:lstStyle/>
          <a:p>
            <a:r>
              <a:rPr lang="en-US" dirty="0"/>
              <a:t>De </a:t>
            </a:r>
            <a:r>
              <a:rPr lang="en-US" dirty="0" err="1"/>
              <a:t>sleutelring</a:t>
            </a:r>
            <a:endParaRPr lang="nl-NL" dirty="0"/>
          </a:p>
        </p:txBody>
      </p:sp>
      <p:pic>
        <p:nvPicPr>
          <p:cNvPr id="6" name="Afbeelding 5">
            <a:extLst>
              <a:ext uri="{FF2B5EF4-FFF2-40B4-BE49-F238E27FC236}">
                <a16:creationId xmlns:a16="http://schemas.microsoft.com/office/drawing/2014/main" id="{17A9890B-18E4-4B16-9CF1-536BBA383C80}"/>
              </a:ext>
            </a:extLst>
          </p:cNvPr>
          <p:cNvPicPr>
            <a:picLocks noChangeAspect="1"/>
          </p:cNvPicPr>
          <p:nvPr/>
        </p:nvPicPr>
        <p:blipFill>
          <a:blip r:embed="rId2"/>
          <a:stretch>
            <a:fillRect/>
          </a:stretch>
        </p:blipFill>
        <p:spPr>
          <a:xfrm>
            <a:off x="9938842" y="1196752"/>
            <a:ext cx="1657350" cy="904875"/>
          </a:xfrm>
          <a:prstGeom prst="rect">
            <a:avLst/>
          </a:prstGeom>
        </p:spPr>
      </p:pic>
      <p:sp>
        <p:nvSpPr>
          <p:cNvPr id="8" name="Tekstvak 7">
            <a:extLst>
              <a:ext uri="{FF2B5EF4-FFF2-40B4-BE49-F238E27FC236}">
                <a16:creationId xmlns:a16="http://schemas.microsoft.com/office/drawing/2014/main" id="{CB5BAF76-00B2-47E5-9F0C-3BC0C93E2AB6}"/>
              </a:ext>
            </a:extLst>
          </p:cNvPr>
          <p:cNvSpPr txBox="1"/>
          <p:nvPr/>
        </p:nvSpPr>
        <p:spPr bwMode="auto">
          <a:xfrm>
            <a:off x="665583" y="1196752"/>
            <a:ext cx="8721437" cy="1815882"/>
          </a:xfrm>
          <a:prstGeom prst="rect">
            <a:avLst/>
          </a:prstGeom>
          <a:solidFill>
            <a:schemeClr val="bg1"/>
          </a:solidFill>
          <a:ln w="12700">
            <a:solidFill>
              <a:schemeClr val="tx1"/>
            </a:solidFill>
            <a:miter lim="800000"/>
            <a:headEnd/>
            <a:tailEnd/>
          </a:ln>
          <a:effectLst>
            <a:outerShdw blurRad="635000" dist="254000" dir="2700000" algn="ctr" rotWithShape="0">
              <a:srgbClr val="D9E3ED"/>
            </a:outerShdw>
          </a:effectLst>
        </p:spPr>
        <p:txBody>
          <a:bodyPr wrap="square" lIns="540000" rtlCol="0" anchor="ctr">
            <a:spAutoFit/>
          </a:bodyPr>
          <a:lstStyle/>
          <a:p>
            <a:pPr eaLnBrk="1" hangingPunct="1">
              <a:spcBef>
                <a:spcPct val="50000"/>
              </a:spcBef>
            </a:pPr>
            <a:r>
              <a:rPr lang="nl-NL" sz="1600" b="1" dirty="0">
                <a:solidFill>
                  <a:srgbClr val="004682"/>
                </a:solidFill>
                <a:latin typeface="Arial" charset="0"/>
              </a:rPr>
              <a:t>De kern in dit plaatje is </a:t>
            </a:r>
            <a:r>
              <a:rPr lang="nl-NL" sz="1600" b="1" dirty="0" err="1">
                <a:solidFill>
                  <a:srgbClr val="004682"/>
                </a:solidFill>
                <a:latin typeface="Arial" charset="0"/>
              </a:rPr>
              <a:t>dpm:DataObject</a:t>
            </a:r>
            <a:r>
              <a:rPr lang="nl-NL" sz="1600" b="1" dirty="0">
                <a:solidFill>
                  <a:srgbClr val="004682"/>
                </a:solidFill>
                <a:latin typeface="Arial" charset="0"/>
              </a:rPr>
              <a:t>, het dataobject waarover we gegevens gaan vastleggen. Het </a:t>
            </a:r>
            <a:r>
              <a:rPr lang="nl-NL" sz="1600" b="1" dirty="0" err="1">
                <a:solidFill>
                  <a:srgbClr val="004682"/>
                </a:solidFill>
                <a:latin typeface="Arial" charset="0"/>
              </a:rPr>
              <a:t>dpm:DataObject</a:t>
            </a:r>
            <a:r>
              <a:rPr lang="nl-NL" sz="1600" b="1" dirty="0">
                <a:solidFill>
                  <a:srgbClr val="004682"/>
                </a:solidFill>
                <a:latin typeface="Arial" charset="0"/>
              </a:rPr>
              <a:t> is de "sleutelring": het bevat slechts de sleutels die verwijzen naar hetzelfde businessobject in "de werkelijkheid". Door gebruik te maken van het </a:t>
            </a:r>
            <a:r>
              <a:rPr lang="nl-NL" sz="1600" b="1" dirty="0" err="1">
                <a:solidFill>
                  <a:srgbClr val="004682"/>
                </a:solidFill>
                <a:latin typeface="Arial" charset="0"/>
              </a:rPr>
              <a:t>dmp:DataObject</a:t>
            </a:r>
            <a:r>
              <a:rPr lang="nl-NL" sz="1600" b="1" dirty="0">
                <a:solidFill>
                  <a:srgbClr val="004682"/>
                </a:solidFill>
                <a:latin typeface="Arial" charset="0"/>
              </a:rPr>
              <a:t> zeg je feitelijk: "het is data over hetzelfde ding in de werkelijkheid". Dat moet je vanzelfsprekend wel met zekerheid weten, anders mag je niet gebruik maken van dit </a:t>
            </a:r>
            <a:r>
              <a:rPr lang="nl-NL" sz="1600" b="1" dirty="0" err="1">
                <a:solidFill>
                  <a:srgbClr val="004682"/>
                </a:solidFill>
                <a:latin typeface="Arial" charset="0"/>
              </a:rPr>
              <a:t>dpm:DataObject</a:t>
            </a:r>
            <a:r>
              <a:rPr lang="nl-NL" sz="1600" b="1" dirty="0">
                <a:solidFill>
                  <a:srgbClr val="004682"/>
                </a:solidFill>
                <a:latin typeface="Arial" charset="0"/>
              </a:rPr>
              <a:t>, en moet je een nieuwe aanmaken. </a:t>
            </a:r>
          </a:p>
        </p:txBody>
      </p:sp>
    </p:spTree>
    <p:extLst>
      <p:ext uri="{BB962C8B-B14F-4D97-AF65-F5344CB8AC3E}">
        <p14:creationId xmlns:p14="http://schemas.microsoft.com/office/powerpoint/2010/main" val="2734441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D0DBE1-5DBD-4187-97DE-B419E0ECF08F}"/>
              </a:ext>
            </a:extLst>
          </p:cNvPr>
          <p:cNvSpPr>
            <a:spLocks noGrp="1"/>
          </p:cNvSpPr>
          <p:nvPr>
            <p:ph type="title"/>
          </p:nvPr>
        </p:nvSpPr>
        <p:spPr/>
        <p:txBody>
          <a:bodyPr>
            <a:normAutofit fontScale="90000"/>
          </a:bodyPr>
          <a:lstStyle/>
          <a:p>
            <a:br>
              <a:rPr lang="nl-NL" sz="1800" b="1" dirty="0">
                <a:effectLst/>
                <a:latin typeface="Arial" panose="020B0604020202020204" pitchFamily="34" charset="0"/>
                <a:ea typeface="Times New Roman" panose="02020603050405020304" pitchFamily="18" charset="0"/>
                <a:cs typeface="Times New Roman" panose="02020603050405020304" pitchFamily="18" charset="0"/>
              </a:rPr>
            </a:br>
            <a:r>
              <a:rPr lang="nl-NL" sz="2700" b="1" dirty="0">
                <a:effectLst/>
                <a:latin typeface="Arial" panose="020B0604020202020204" pitchFamily="34" charset="0"/>
                <a:ea typeface="Times New Roman" panose="02020603050405020304" pitchFamily="18" charset="0"/>
                <a:cs typeface="Times New Roman" panose="02020603050405020304" pitchFamily="18" charset="0"/>
              </a:rPr>
              <a:t>Dataobjecten bestaan ALTIJD in de context van een autorisatiecontainer</a:t>
            </a:r>
            <a:br>
              <a:rPr lang="nl-NL" sz="1800" b="1" dirty="0">
                <a:effectLst/>
                <a:latin typeface="Arial" panose="020B0604020202020204" pitchFamily="34" charset="0"/>
                <a:ea typeface="Times New Roman" panose="02020603050405020304" pitchFamily="18" charset="0"/>
                <a:cs typeface="Times New Roman" panose="02020603050405020304" pitchFamily="18" charset="0"/>
              </a:rPr>
            </a:br>
            <a:endParaRPr lang="nl-NL" dirty="0"/>
          </a:p>
        </p:txBody>
      </p:sp>
      <p:pic>
        <p:nvPicPr>
          <p:cNvPr id="4" name="Afbeelding 3" descr="C:\fe8a5b4527851553e2b8110cf895c544">
            <a:extLst>
              <a:ext uri="{FF2B5EF4-FFF2-40B4-BE49-F238E27FC236}">
                <a16:creationId xmlns:a16="http://schemas.microsoft.com/office/drawing/2014/main" id="{C548CDDE-60B2-42F4-B687-B2BCF9FD086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234852" y="1635162"/>
            <a:ext cx="3005044" cy="4043045"/>
          </a:xfrm>
          <a:prstGeom prst="rect">
            <a:avLst/>
          </a:prstGeom>
          <a:noFill/>
          <a:ln>
            <a:noFill/>
          </a:ln>
        </p:spPr>
      </p:pic>
    </p:spTree>
    <p:extLst>
      <p:ext uri="{BB962C8B-B14F-4D97-AF65-F5344CB8AC3E}">
        <p14:creationId xmlns:p14="http://schemas.microsoft.com/office/powerpoint/2010/main" val="11987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776343-493E-4682-8E31-64F3F85601A5}"/>
              </a:ext>
            </a:extLst>
          </p:cNvPr>
          <p:cNvSpPr>
            <a:spLocks noGrp="1"/>
          </p:cNvSpPr>
          <p:nvPr>
            <p:ph type="title"/>
          </p:nvPr>
        </p:nvSpPr>
        <p:spPr/>
        <p:txBody>
          <a:bodyPr>
            <a:normAutofit fontScale="90000"/>
          </a:bodyPr>
          <a:lstStyle/>
          <a:p>
            <a:r>
              <a:rPr lang="en-US" dirty="0"/>
              <a:t>Work Data Object</a:t>
            </a:r>
            <a:endParaRPr lang="nl-NL" dirty="0"/>
          </a:p>
        </p:txBody>
      </p:sp>
      <p:sp>
        <p:nvSpPr>
          <p:cNvPr id="3" name="Ondertitel 2">
            <a:extLst>
              <a:ext uri="{FF2B5EF4-FFF2-40B4-BE49-F238E27FC236}">
                <a16:creationId xmlns:a16="http://schemas.microsoft.com/office/drawing/2014/main" id="{7188A72E-A6B2-4167-A5B0-F231D43160CC}"/>
              </a:ext>
            </a:extLst>
          </p:cNvPr>
          <p:cNvSpPr>
            <a:spLocks noGrp="1"/>
          </p:cNvSpPr>
          <p:nvPr>
            <p:ph type="subTitle" idx="1"/>
          </p:nvPr>
        </p:nvSpPr>
        <p:spPr>
          <a:xfrm>
            <a:off x="623392" y="1196752"/>
            <a:ext cx="7288967" cy="4680520"/>
          </a:xfrm>
        </p:spPr>
        <p:txBody>
          <a:bodyPr>
            <a:normAutofit fontScale="70000" lnSpcReduction="20000"/>
          </a:bodyPr>
          <a:lstStyle/>
          <a:p>
            <a:pPr marL="0" indent="0">
              <a:buNone/>
            </a:pPr>
            <a:r>
              <a:rPr lang="nl-NL" sz="2400" dirty="0"/>
              <a:t>Het verwerkingsmodel maakt het mogelijk om gegevens onderling met elkaar te verbinden die vanuit verschillende contexten zijn ontstaan. Door deze verbinding bereiken we 'enkelvoudige opslag en meervoudig gebruik''. Het verwerkingsmodel creëert in zekere zin overhead omdat er een administratie gevoerd moet worden over 'welk gegeven wordt waar gebruikt?’. </a:t>
            </a:r>
            <a:br>
              <a:rPr lang="nl-NL" sz="2400" dirty="0"/>
            </a:br>
            <a:r>
              <a:rPr lang="nl-NL" sz="2400" dirty="0"/>
              <a:t>Het is daarom nuttig om dat deel van het verwerkingsmodel vooral te gebruiken voor die (klassen van) gegevens waar hergebruik aan de orde is. </a:t>
            </a:r>
          </a:p>
          <a:p>
            <a:pPr marL="0" indent="0">
              <a:buNone/>
            </a:pPr>
            <a:r>
              <a:rPr lang="nl-NL" sz="2400" dirty="0" err="1"/>
              <a:t>dpm:DataObjecten</a:t>
            </a:r>
            <a:r>
              <a:rPr lang="nl-NL" sz="2400" dirty="0"/>
              <a:t> hebben in de meeste gevallen betrekking op de dingen waar de Politie interesse in heeft: personen, goederen, locaties, gebeurtenissen, etc. </a:t>
            </a:r>
            <a:br>
              <a:rPr lang="nl-NL" sz="2400" dirty="0"/>
            </a:br>
            <a:br>
              <a:rPr lang="nl-NL" sz="2400" dirty="0"/>
            </a:br>
            <a:r>
              <a:rPr lang="nl-NL" sz="2400" dirty="0"/>
              <a:t>Maar ook gegevens-over-het-werk zijn relevant en volgen hetzelfde patroon: </a:t>
            </a:r>
            <a:r>
              <a:rPr lang="nl-NL" sz="2400" dirty="0" err="1"/>
              <a:t>dpm:WorkDataObject</a:t>
            </a:r>
            <a:r>
              <a:rPr lang="nl-NL" sz="2400" dirty="0"/>
              <a:t> is een specialisatie van </a:t>
            </a:r>
            <a:r>
              <a:rPr lang="nl-NL" sz="2400" dirty="0" err="1"/>
              <a:t>dpm:DataObject</a:t>
            </a:r>
            <a:r>
              <a:rPr lang="nl-NL" sz="2400" dirty="0"/>
              <a:t>. Ook geldt dat een </a:t>
            </a:r>
            <a:r>
              <a:rPr lang="nl-NL" sz="2400" dirty="0" err="1"/>
              <a:t>dpm:WorkDataObject</a:t>
            </a:r>
            <a:r>
              <a:rPr lang="nl-NL" sz="2400" dirty="0"/>
              <a:t> slechts één sleutel kennen (het is immers werk dat de politie zelf uitvoert) en de gegevens zelf zijn ook niet herbruikbaar in andere zaken, vandaar het subtype</a:t>
            </a:r>
          </a:p>
          <a:p>
            <a:pPr marL="0" indent="0">
              <a:buNone/>
            </a:pPr>
            <a:endParaRPr lang="nl-NL" sz="2400" dirty="0"/>
          </a:p>
        </p:txBody>
      </p:sp>
      <p:pic>
        <p:nvPicPr>
          <p:cNvPr id="4" name="Afbeelding 3">
            <a:extLst>
              <a:ext uri="{FF2B5EF4-FFF2-40B4-BE49-F238E27FC236}">
                <a16:creationId xmlns:a16="http://schemas.microsoft.com/office/drawing/2014/main" id="{29685D26-F102-45DA-99D9-61ECDC5ACADC}"/>
              </a:ext>
            </a:extLst>
          </p:cNvPr>
          <p:cNvPicPr>
            <a:picLocks noChangeAspect="1"/>
          </p:cNvPicPr>
          <p:nvPr/>
        </p:nvPicPr>
        <p:blipFill>
          <a:blip r:embed="rId2"/>
          <a:stretch>
            <a:fillRect/>
          </a:stretch>
        </p:blipFill>
        <p:spPr>
          <a:xfrm>
            <a:off x="6977676" y="269310"/>
            <a:ext cx="4432176" cy="932769"/>
          </a:xfrm>
          <a:prstGeom prst="rect">
            <a:avLst/>
          </a:prstGeom>
        </p:spPr>
      </p:pic>
    </p:spTree>
    <p:extLst>
      <p:ext uri="{BB962C8B-B14F-4D97-AF65-F5344CB8AC3E}">
        <p14:creationId xmlns:p14="http://schemas.microsoft.com/office/powerpoint/2010/main" val="2822369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8E0DA9-A943-4BC5-BAEB-37DF0B806B80}"/>
              </a:ext>
            </a:extLst>
          </p:cNvPr>
          <p:cNvSpPr>
            <a:spLocks noGrp="1"/>
          </p:cNvSpPr>
          <p:nvPr>
            <p:ph type="title"/>
          </p:nvPr>
        </p:nvSpPr>
        <p:spPr/>
        <p:txBody>
          <a:bodyPr>
            <a:normAutofit fontScale="90000"/>
          </a:bodyPr>
          <a:lstStyle/>
          <a:p>
            <a:r>
              <a:rPr lang="en-US" dirty="0"/>
              <a:t>(</a:t>
            </a:r>
            <a:r>
              <a:rPr lang="en-US" dirty="0" err="1"/>
              <a:t>Autorisatie</a:t>
            </a:r>
            <a:r>
              <a:rPr lang="en-US" dirty="0"/>
              <a:t>) Context</a:t>
            </a:r>
            <a:endParaRPr lang="nl-NL" dirty="0"/>
          </a:p>
        </p:txBody>
      </p:sp>
      <p:pic>
        <p:nvPicPr>
          <p:cNvPr id="4" name="Afbeelding 3">
            <a:extLst>
              <a:ext uri="{FF2B5EF4-FFF2-40B4-BE49-F238E27FC236}">
                <a16:creationId xmlns:a16="http://schemas.microsoft.com/office/drawing/2014/main" id="{322B7874-164A-4FED-BB92-9BE425CB87A4}"/>
              </a:ext>
            </a:extLst>
          </p:cNvPr>
          <p:cNvPicPr>
            <a:picLocks noChangeAspect="1"/>
          </p:cNvPicPr>
          <p:nvPr/>
        </p:nvPicPr>
        <p:blipFill>
          <a:blip r:embed="rId2"/>
          <a:stretch>
            <a:fillRect/>
          </a:stretch>
        </p:blipFill>
        <p:spPr>
          <a:xfrm>
            <a:off x="7492818" y="481939"/>
            <a:ext cx="3876496" cy="6376061"/>
          </a:xfrm>
          <a:prstGeom prst="rect">
            <a:avLst/>
          </a:prstGeom>
        </p:spPr>
      </p:pic>
      <p:sp>
        <p:nvSpPr>
          <p:cNvPr id="3" name="Ondertitel 2">
            <a:extLst>
              <a:ext uri="{FF2B5EF4-FFF2-40B4-BE49-F238E27FC236}">
                <a16:creationId xmlns:a16="http://schemas.microsoft.com/office/drawing/2014/main" id="{9C718BFD-A8E4-4C40-9491-9186B811092B}"/>
              </a:ext>
            </a:extLst>
          </p:cNvPr>
          <p:cNvSpPr>
            <a:spLocks noGrp="1"/>
          </p:cNvSpPr>
          <p:nvPr>
            <p:ph type="subTitle" idx="1"/>
          </p:nvPr>
        </p:nvSpPr>
        <p:spPr>
          <a:xfrm>
            <a:off x="623393" y="1196752"/>
            <a:ext cx="5783986" cy="4680520"/>
          </a:xfrm>
        </p:spPr>
        <p:txBody>
          <a:bodyPr>
            <a:normAutofit fontScale="47500" lnSpcReduction="20000"/>
          </a:bodyPr>
          <a:lstStyle/>
          <a:p>
            <a:pPr marL="0" indent="0">
              <a:buNone/>
            </a:pPr>
            <a:r>
              <a:rPr lang="nl-NL" dirty="0"/>
              <a:t>Om gegevens over een </a:t>
            </a:r>
            <a:r>
              <a:rPr lang="nl-NL" dirty="0" err="1"/>
              <a:t>dpm:DataObject</a:t>
            </a:r>
            <a:r>
              <a:rPr lang="nl-NL" dirty="0"/>
              <a:t> vast te kunnen leggen, moet je het data-object "in context" trekken van een autorisatiecontainer. </a:t>
            </a:r>
            <a:br>
              <a:rPr lang="nl-NL" dirty="0"/>
            </a:br>
            <a:br>
              <a:rPr lang="nl-NL" dirty="0"/>
            </a:br>
            <a:r>
              <a:rPr lang="nl-NL" dirty="0"/>
              <a:t>Alleen vanuit een autorisatiecontainer kun je toegang krijgen om de gegevens te lezen of te muteren. Een autorisatiecontainer is dan ook niets meer of minder dan de verzameling van data-objecten waar je "toegang" toe hebt om deze te lezen of te muteren. </a:t>
            </a:r>
            <a:br>
              <a:rPr lang="nl-NL" dirty="0"/>
            </a:br>
            <a:br>
              <a:rPr lang="nl-NL" dirty="0"/>
            </a:br>
            <a:r>
              <a:rPr lang="nl-NL" dirty="0"/>
              <a:t>Het </a:t>
            </a:r>
            <a:r>
              <a:rPr lang="nl-NL" dirty="0" err="1"/>
              <a:t>dpm:DataObjectInContext</a:t>
            </a:r>
            <a:r>
              <a:rPr lang="nl-NL" dirty="0"/>
              <a:t> geeft aan dat een specifiek </a:t>
            </a:r>
            <a:r>
              <a:rPr lang="nl-NL" dirty="0" err="1"/>
              <a:t>dpm:DataObject</a:t>
            </a:r>
            <a:r>
              <a:rPr lang="nl-NL" dirty="0"/>
              <a:t> in de context getrokken is "relevant is in" een specifieke </a:t>
            </a:r>
            <a:r>
              <a:rPr lang="nl-NL" dirty="0" err="1"/>
              <a:t>dpm:AutorisationContainer</a:t>
            </a:r>
            <a:endParaRPr lang="nl-NL" dirty="0"/>
          </a:p>
        </p:txBody>
      </p:sp>
    </p:spTree>
    <p:extLst>
      <p:ext uri="{BB962C8B-B14F-4D97-AF65-F5344CB8AC3E}">
        <p14:creationId xmlns:p14="http://schemas.microsoft.com/office/powerpoint/2010/main" val="2527892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9F15CE-2AB7-4E4F-ADF4-1D8B9EFA8B81}"/>
              </a:ext>
            </a:extLst>
          </p:cNvPr>
          <p:cNvSpPr>
            <a:spLocks noGrp="1"/>
          </p:cNvSpPr>
          <p:nvPr>
            <p:ph type="title"/>
          </p:nvPr>
        </p:nvSpPr>
        <p:spPr/>
        <p:txBody>
          <a:bodyPr>
            <a:noAutofit/>
          </a:bodyPr>
          <a:lstStyle/>
          <a:p>
            <a:r>
              <a:rPr lang="nl-NL" sz="3200" dirty="0"/>
              <a:t>De autorisatiecontext wordt bepaald vanuit de werkcontext (de verwerking)</a:t>
            </a:r>
          </a:p>
        </p:txBody>
      </p:sp>
      <p:pic>
        <p:nvPicPr>
          <p:cNvPr id="4" name="Afbeelding 3">
            <a:extLst>
              <a:ext uri="{FF2B5EF4-FFF2-40B4-BE49-F238E27FC236}">
                <a16:creationId xmlns:a16="http://schemas.microsoft.com/office/drawing/2014/main" id="{18D38CE1-C4CA-4810-BEB0-00215F628259}"/>
              </a:ext>
            </a:extLst>
          </p:cNvPr>
          <p:cNvPicPr>
            <a:picLocks noChangeAspect="1"/>
          </p:cNvPicPr>
          <p:nvPr/>
        </p:nvPicPr>
        <p:blipFill>
          <a:blip r:embed="rId2"/>
          <a:stretch>
            <a:fillRect/>
          </a:stretch>
        </p:blipFill>
        <p:spPr>
          <a:xfrm>
            <a:off x="4632833" y="1520786"/>
            <a:ext cx="2926334" cy="3816427"/>
          </a:xfrm>
          <a:prstGeom prst="rect">
            <a:avLst/>
          </a:prstGeom>
        </p:spPr>
      </p:pic>
    </p:spTree>
    <p:extLst>
      <p:ext uri="{BB962C8B-B14F-4D97-AF65-F5344CB8AC3E}">
        <p14:creationId xmlns:p14="http://schemas.microsoft.com/office/powerpoint/2010/main" val="3553249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89A2CC-4BBA-4C31-AB19-E4995468306F}"/>
              </a:ext>
            </a:extLst>
          </p:cNvPr>
          <p:cNvSpPr>
            <a:spLocks noGrp="1"/>
          </p:cNvSpPr>
          <p:nvPr>
            <p:ph type="title"/>
          </p:nvPr>
        </p:nvSpPr>
        <p:spPr>
          <a:xfrm>
            <a:off x="623392" y="544548"/>
            <a:ext cx="10972800" cy="652204"/>
          </a:xfrm>
        </p:spPr>
        <p:txBody>
          <a:bodyPr>
            <a:normAutofit fontScale="90000"/>
          </a:bodyPr>
          <a:lstStyle/>
          <a:p>
            <a:r>
              <a:rPr lang="nl-NL" sz="2200" b="1" dirty="0">
                <a:effectLst/>
                <a:latin typeface="Arial" panose="020B0604020202020204" pitchFamily="34" charset="0"/>
                <a:ea typeface="Times New Roman" panose="02020603050405020304" pitchFamily="18" charset="0"/>
                <a:cs typeface="Times New Roman" panose="02020603050405020304" pitchFamily="18" charset="0"/>
              </a:rPr>
              <a:t>Dingen in de werkelijkheid' kennen meerdere beschrijvingen (</a:t>
            </a:r>
            <a:r>
              <a:rPr lang="nl-NL" sz="2200" b="1" dirty="0" err="1">
                <a:effectLst/>
                <a:latin typeface="Arial" panose="020B0604020202020204" pitchFamily="34" charset="0"/>
                <a:ea typeface="Times New Roman" panose="02020603050405020304" pitchFamily="18" charset="0"/>
                <a:cs typeface="Times New Roman" panose="02020603050405020304" pitchFamily="18" charset="0"/>
              </a:rPr>
              <a:t>multi</a:t>
            </a:r>
            <a:r>
              <a:rPr lang="nl-NL" sz="2200" b="1" dirty="0">
                <a:effectLst/>
                <a:latin typeface="Arial" panose="020B0604020202020204" pitchFamily="34" charset="0"/>
                <a:ea typeface="Times New Roman" panose="02020603050405020304" pitchFamily="18" charset="0"/>
                <a:cs typeface="Times New Roman" panose="02020603050405020304" pitchFamily="18" charset="0"/>
              </a:rPr>
              <a:t>-realiteit)</a:t>
            </a:r>
            <a:br>
              <a:rPr lang="nl-NL" sz="1800" b="1" dirty="0">
                <a:effectLst/>
                <a:latin typeface="Arial" panose="020B0604020202020204" pitchFamily="34" charset="0"/>
                <a:ea typeface="Times New Roman" panose="02020603050405020304" pitchFamily="18" charset="0"/>
                <a:cs typeface="Times New Roman" panose="02020603050405020304" pitchFamily="18" charset="0"/>
              </a:rPr>
            </a:br>
            <a:endParaRPr lang="nl-NL" dirty="0"/>
          </a:p>
        </p:txBody>
      </p:sp>
      <p:sp>
        <p:nvSpPr>
          <p:cNvPr id="3" name="Ondertitel 2">
            <a:extLst>
              <a:ext uri="{FF2B5EF4-FFF2-40B4-BE49-F238E27FC236}">
                <a16:creationId xmlns:a16="http://schemas.microsoft.com/office/drawing/2014/main" id="{2069E1B8-4824-4810-AB34-E79112BE948D}"/>
              </a:ext>
            </a:extLst>
          </p:cNvPr>
          <p:cNvSpPr>
            <a:spLocks noGrp="1"/>
          </p:cNvSpPr>
          <p:nvPr>
            <p:ph type="subTitle" idx="1"/>
          </p:nvPr>
        </p:nvSpPr>
        <p:spPr>
          <a:xfrm>
            <a:off x="623392" y="1196752"/>
            <a:ext cx="6172113" cy="4680520"/>
          </a:xfrm>
        </p:spPr>
        <p:txBody>
          <a:bodyPr>
            <a:normAutofit/>
          </a:bodyPr>
          <a:lstStyle/>
          <a:p>
            <a:pPr marL="0" indent="0">
              <a:buNone/>
            </a:pPr>
            <a:r>
              <a:rPr lang="nl-NL" sz="2000" dirty="0"/>
              <a:t>De daadwerkelijke gegevens "landen" in een </a:t>
            </a:r>
            <a:r>
              <a:rPr lang="nl-NL" sz="2000" dirty="0" err="1"/>
              <a:t>dpm:DataObjectState</a:t>
            </a:r>
            <a:r>
              <a:rPr lang="nl-NL" sz="2000" dirty="0"/>
              <a:t> (Toestandsbeschrijving), die een specifieke toestand beschrijft van een </a:t>
            </a:r>
            <a:r>
              <a:rPr lang="nl-NL" sz="2000" dirty="0" err="1"/>
              <a:t>dpm:DataObjectInContext</a:t>
            </a:r>
            <a:r>
              <a:rPr lang="nl-NL" sz="2000" dirty="0"/>
              <a:t>. </a:t>
            </a:r>
            <a:br>
              <a:rPr lang="nl-NL" sz="2000" dirty="0"/>
            </a:br>
            <a:r>
              <a:rPr lang="nl-NL" sz="2000" dirty="0"/>
              <a:t>De </a:t>
            </a:r>
            <a:r>
              <a:rPr lang="nl-NL" sz="2000" dirty="0" err="1"/>
              <a:t>toestandbeschrijving</a:t>
            </a:r>
            <a:r>
              <a:rPr lang="nl-NL" sz="2000" dirty="0"/>
              <a:t> "hoort" dus bij die specifieke context (en dus ook de betreffende autorisatiecontainer). </a:t>
            </a:r>
            <a:br>
              <a:rPr lang="nl-NL" sz="2000" dirty="0"/>
            </a:br>
            <a:r>
              <a:rPr lang="nl-NL" sz="2000" dirty="0"/>
              <a:t>Elke </a:t>
            </a:r>
            <a:r>
              <a:rPr lang="nl-NL" sz="2000" dirty="0" err="1"/>
              <a:t>dpm:DataObjectState</a:t>
            </a:r>
            <a:r>
              <a:rPr lang="nl-NL" sz="2000" dirty="0"/>
              <a:t> is onwijzigbaar: als deze eenmaal is opgevoerd, kan deze niet meer wijzigen. Wel kan er (bij dezelfde </a:t>
            </a:r>
            <a:r>
              <a:rPr lang="nl-NL" sz="2000" dirty="0" err="1"/>
              <a:t>dpm:DataObjectInContext</a:t>
            </a:r>
            <a:r>
              <a:rPr lang="nl-NL" sz="2000" dirty="0"/>
              <a:t>) een nieuwe </a:t>
            </a:r>
            <a:r>
              <a:rPr lang="nl-NL" sz="2000" dirty="0" err="1"/>
              <a:t>dpm:DataObjectState</a:t>
            </a:r>
            <a:r>
              <a:rPr lang="nl-NL" sz="2000" dirty="0"/>
              <a:t> worden aangemaakt, die dan is afgeleid van de voorgaande (via </a:t>
            </a:r>
            <a:r>
              <a:rPr lang="nl-NL" sz="2000" dirty="0" err="1"/>
              <a:t>dpm:derivedFrom</a:t>
            </a:r>
            <a:r>
              <a:rPr lang="nl-NL" sz="2000" dirty="0"/>
              <a:t>). </a:t>
            </a:r>
          </a:p>
        </p:txBody>
      </p:sp>
      <p:pic>
        <p:nvPicPr>
          <p:cNvPr id="4" name="Afbeelding 3" descr="C:\44edfe54556ba594b9ce5f05409b2f5b">
            <a:extLst>
              <a:ext uri="{FF2B5EF4-FFF2-40B4-BE49-F238E27FC236}">
                <a16:creationId xmlns:a16="http://schemas.microsoft.com/office/drawing/2014/main" id="{4A773D6D-1EE6-4D96-B954-8EFA07807C8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840102" y="1579436"/>
            <a:ext cx="3474820" cy="3359567"/>
          </a:xfrm>
          <a:prstGeom prst="rect">
            <a:avLst/>
          </a:prstGeom>
          <a:noFill/>
          <a:ln>
            <a:noFill/>
          </a:ln>
        </p:spPr>
      </p:pic>
    </p:spTree>
    <p:extLst>
      <p:ext uri="{BB962C8B-B14F-4D97-AF65-F5344CB8AC3E}">
        <p14:creationId xmlns:p14="http://schemas.microsoft.com/office/powerpoint/2010/main" val="3559644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F2B1C6-FE14-4888-81D0-3893F02D1383}"/>
              </a:ext>
            </a:extLst>
          </p:cNvPr>
          <p:cNvSpPr>
            <a:spLocks noGrp="1"/>
          </p:cNvSpPr>
          <p:nvPr>
            <p:ph type="title"/>
          </p:nvPr>
        </p:nvSpPr>
        <p:spPr/>
        <p:txBody>
          <a:bodyPr>
            <a:normAutofit/>
          </a:bodyPr>
          <a:lstStyle/>
          <a:p>
            <a:r>
              <a:rPr lang="nl-NL" sz="4000" dirty="0" err="1"/>
              <a:t>dmp:DataObjectState</a:t>
            </a:r>
            <a:r>
              <a:rPr lang="nl-NL" sz="4000" dirty="0"/>
              <a:t> = </a:t>
            </a:r>
            <a:r>
              <a:rPr lang="en-US" sz="4000" dirty="0"/>
              <a:t>In detail</a:t>
            </a:r>
            <a:endParaRPr lang="nl-NL" sz="4000" dirty="0"/>
          </a:p>
        </p:txBody>
      </p:sp>
      <p:sp>
        <p:nvSpPr>
          <p:cNvPr id="3" name="Ondertitel 2">
            <a:extLst>
              <a:ext uri="{FF2B5EF4-FFF2-40B4-BE49-F238E27FC236}">
                <a16:creationId xmlns:a16="http://schemas.microsoft.com/office/drawing/2014/main" id="{85F5D7B1-8B55-4F41-A4F4-7F02023F22E0}"/>
              </a:ext>
            </a:extLst>
          </p:cNvPr>
          <p:cNvSpPr>
            <a:spLocks noGrp="1"/>
          </p:cNvSpPr>
          <p:nvPr>
            <p:ph type="subTitle" idx="1"/>
          </p:nvPr>
        </p:nvSpPr>
        <p:spPr/>
        <p:txBody>
          <a:bodyPr>
            <a:normAutofit fontScale="32500" lnSpcReduction="20000"/>
          </a:bodyPr>
          <a:lstStyle/>
          <a:p>
            <a:pPr marL="0" indent="0">
              <a:buNone/>
            </a:pPr>
            <a:endParaRPr lang="nl-NL" dirty="0"/>
          </a:p>
          <a:p>
            <a:pPr marL="0" indent="0">
              <a:buNone/>
            </a:pPr>
            <a:r>
              <a:rPr lang="nl-NL" dirty="0"/>
              <a:t>= De kennis over het </a:t>
            </a:r>
            <a:r>
              <a:rPr lang="nl-NL" dirty="0" err="1"/>
              <a:t>dmp:DataObject</a:t>
            </a:r>
            <a:r>
              <a:rPr lang="nl-NL" dirty="0"/>
              <a:t> wordt in toestandsbeschrijvingen (</a:t>
            </a:r>
            <a:r>
              <a:rPr lang="nl-NL" dirty="0" err="1"/>
              <a:t>dmp:DataObjectState</a:t>
            </a:r>
            <a:r>
              <a:rPr lang="nl-NL" dirty="0"/>
              <a:t>)vastgelegd.</a:t>
            </a:r>
            <a:br>
              <a:rPr lang="nl-NL" dirty="0"/>
            </a:br>
            <a:r>
              <a:rPr lang="nl-NL" dirty="0"/>
              <a:t> </a:t>
            </a:r>
          </a:p>
          <a:p>
            <a:pPr marL="0" indent="0">
              <a:buNone/>
            </a:pPr>
            <a:r>
              <a:rPr lang="nl-NL" dirty="0"/>
              <a:t>= Van 'ieder ding in de werkelijkheid' kunnen meerdere </a:t>
            </a:r>
            <a:r>
              <a:rPr lang="nl-NL" dirty="0" err="1"/>
              <a:t>dmp:DataObjectState</a:t>
            </a:r>
            <a:r>
              <a:rPr lang="nl-NL" dirty="0"/>
              <a:t> bestaan.</a:t>
            </a:r>
          </a:p>
          <a:p>
            <a:pPr marL="0" indent="0">
              <a:buNone/>
            </a:pPr>
            <a:br>
              <a:rPr lang="nl-NL" dirty="0"/>
            </a:br>
            <a:r>
              <a:rPr lang="nl-NL" dirty="0"/>
              <a:t>= </a:t>
            </a:r>
            <a:r>
              <a:rPr lang="nl-NL" dirty="0" err="1"/>
              <a:t>dmp:DataObjectState</a:t>
            </a:r>
            <a:r>
              <a:rPr lang="nl-NL" dirty="0"/>
              <a:t> kunnen worden hergebruikt door er een verbinding naar te leggen. Er wordt niet gekopieerd maar verwezen. Iedere beschrijving krijgt ook een URI zodat er naar verwezen kan worden. </a:t>
            </a:r>
          </a:p>
          <a:p>
            <a:pPr marL="0" indent="0">
              <a:buNone/>
            </a:pPr>
            <a:br>
              <a:rPr lang="nl-NL" dirty="0"/>
            </a:br>
            <a:r>
              <a:rPr lang="nl-NL" dirty="0"/>
              <a:t>= Er mogen geen beschrijvingen 'zweven', </a:t>
            </a:r>
            <a:r>
              <a:rPr lang="nl-NL" dirty="0" err="1"/>
              <a:t>dmp:stateOf</a:t>
            </a:r>
            <a:r>
              <a:rPr lang="nl-NL" dirty="0"/>
              <a:t> moet altijd bestaan. </a:t>
            </a:r>
          </a:p>
          <a:p>
            <a:pPr marL="0" indent="0">
              <a:buNone/>
            </a:pPr>
            <a:br>
              <a:rPr lang="nl-NL" dirty="0"/>
            </a:br>
            <a:r>
              <a:rPr lang="nl-NL" dirty="0"/>
              <a:t>= </a:t>
            </a:r>
            <a:r>
              <a:rPr lang="nl-NL" dirty="0" err="1"/>
              <a:t>dmp:DataObjectState</a:t>
            </a:r>
            <a:r>
              <a:rPr lang="nl-NL" dirty="0"/>
              <a:t> kunnen in de loop der tijd worden aangevuld, verbeterd en verwijderd.  Iedere  actie leidt tot een nieuwe </a:t>
            </a:r>
            <a:r>
              <a:rPr lang="nl-NL" dirty="0" err="1"/>
              <a:t>dmp:DataObjectState</a:t>
            </a:r>
            <a:r>
              <a:rPr lang="nl-NL" dirty="0"/>
              <a:t> met herkomstrelaties, waarbij de voorgaande zo nodig een "</a:t>
            </a:r>
            <a:r>
              <a:rPr lang="nl-NL" dirty="0" err="1"/>
              <a:t>invalidatedAtTime</a:t>
            </a:r>
            <a:r>
              <a:rPr lang="nl-NL" dirty="0"/>
              <a:t>" waarde krijgt. Indien een toestandsbeschrijving alleen verwijderd wordt, dan wordt alleen dit veld gevuld en ontstaat geen nieuwe toestandsbeschrijving.</a:t>
            </a:r>
          </a:p>
          <a:p>
            <a:pPr marL="0" indent="0">
              <a:buNone/>
            </a:pPr>
            <a:br>
              <a:rPr lang="nl-NL" dirty="0"/>
            </a:br>
            <a:r>
              <a:rPr lang="nl-NL" dirty="0"/>
              <a:t>= Er zijn twee soorten toestandsbeschrijvingen: </a:t>
            </a:r>
          </a:p>
          <a:p>
            <a:pPr marL="0" indent="0">
              <a:buNone/>
            </a:pPr>
            <a:r>
              <a:rPr lang="nl-NL" dirty="0"/>
              <a:t>1. Inhoudelijke toestandsbeschrijvingen: deze bevatten betekenisvolle eigenschappen (zoals de naam van een persoon, of de kleur van een auto).</a:t>
            </a:r>
          </a:p>
          <a:p>
            <a:pPr marL="0" indent="0">
              <a:buNone/>
            </a:pPr>
            <a:r>
              <a:rPr lang="nl-NL" dirty="0"/>
              <a:t>2. Afhankelijke toestandsbeschrijvingen, deze zijn nodig om voor een specifieke </a:t>
            </a:r>
            <a:r>
              <a:rPr lang="nl-NL" dirty="0" err="1"/>
              <a:t>dmp:DataObjectInContext</a:t>
            </a:r>
            <a:r>
              <a:rPr lang="nl-NL" dirty="0"/>
              <a:t> aan te geven welke bestaande beschrijvingen in die context relevant zijn (en daarmee dus hergebruikt worden, bijvoorbeeld een eerder vastgelegde naam van een persoon). Hieraan wordt (dan) geen inhoudelijke kennis toegevoegd.</a:t>
            </a:r>
          </a:p>
          <a:p>
            <a:pPr marL="0" indent="0">
              <a:buNone/>
            </a:pPr>
            <a:endParaRPr lang="nl-NL" dirty="0"/>
          </a:p>
        </p:txBody>
      </p:sp>
    </p:spTree>
    <p:extLst>
      <p:ext uri="{BB962C8B-B14F-4D97-AF65-F5344CB8AC3E}">
        <p14:creationId xmlns:p14="http://schemas.microsoft.com/office/powerpoint/2010/main" val="238689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A055D0-29D5-4EC5-BFB9-AE179CE1AFA1}"/>
              </a:ext>
            </a:extLst>
          </p:cNvPr>
          <p:cNvSpPr>
            <a:spLocks noGrp="1"/>
          </p:cNvSpPr>
          <p:nvPr>
            <p:ph type="title"/>
          </p:nvPr>
        </p:nvSpPr>
        <p:spPr>
          <a:xfrm>
            <a:off x="609600" y="461250"/>
            <a:ext cx="10972800" cy="922115"/>
          </a:xfrm>
        </p:spPr>
        <p:txBody>
          <a:bodyPr>
            <a:normAutofit fontScale="90000"/>
          </a:bodyPr>
          <a:lstStyle/>
          <a:p>
            <a:r>
              <a:rPr lang="nl-NL" sz="2700" b="1" dirty="0">
                <a:effectLst/>
                <a:latin typeface="Arial" panose="020B0604020202020204" pitchFamily="34" charset="0"/>
                <a:ea typeface="Times New Roman" panose="02020603050405020304" pitchFamily="18" charset="0"/>
                <a:cs typeface="Times New Roman" panose="02020603050405020304" pitchFamily="18" charset="0"/>
              </a:rPr>
              <a:t>Mutatiecontext</a:t>
            </a:r>
            <a:br>
              <a:rPr lang="nl-NL" sz="1800" b="1" dirty="0">
                <a:effectLst/>
                <a:latin typeface="Arial" panose="020B0604020202020204" pitchFamily="34" charset="0"/>
                <a:ea typeface="Times New Roman" panose="02020603050405020304" pitchFamily="18" charset="0"/>
                <a:cs typeface="Times New Roman" panose="02020603050405020304" pitchFamily="18" charset="0"/>
              </a:rPr>
            </a:br>
            <a:endParaRPr lang="nl-NL" dirty="0"/>
          </a:p>
        </p:txBody>
      </p:sp>
      <p:sp>
        <p:nvSpPr>
          <p:cNvPr id="3" name="Ondertitel 2">
            <a:extLst>
              <a:ext uri="{FF2B5EF4-FFF2-40B4-BE49-F238E27FC236}">
                <a16:creationId xmlns:a16="http://schemas.microsoft.com/office/drawing/2014/main" id="{E81EF6B7-2F1D-43A5-8E28-E565CE6F12E7}"/>
              </a:ext>
            </a:extLst>
          </p:cNvPr>
          <p:cNvSpPr>
            <a:spLocks noGrp="1"/>
          </p:cNvSpPr>
          <p:nvPr>
            <p:ph type="subTitle" idx="1"/>
          </p:nvPr>
        </p:nvSpPr>
        <p:spPr>
          <a:xfrm>
            <a:off x="623392" y="1196752"/>
            <a:ext cx="6281261" cy="4680520"/>
          </a:xfrm>
        </p:spPr>
        <p:txBody>
          <a:bodyPr>
            <a:normAutofit fontScale="32500" lnSpcReduction="20000"/>
          </a:bodyPr>
          <a:lstStyle/>
          <a:p>
            <a:pPr marL="0" indent="0">
              <a:buNone/>
            </a:pPr>
            <a:r>
              <a:rPr lang="nl-NL" dirty="0"/>
              <a:t>De rode klasse </a:t>
            </a:r>
            <a:r>
              <a:rPr lang="nl-NL" b="1" dirty="0" err="1"/>
              <a:t>dpm:DataObjectMutation</a:t>
            </a:r>
            <a:r>
              <a:rPr lang="nl-NL" b="1" dirty="0"/>
              <a:t> </a:t>
            </a:r>
            <a:r>
              <a:rPr lang="nl-NL" dirty="0"/>
              <a:t>beschrijft de daadwerkelijke mutatie. Elke </a:t>
            </a:r>
            <a:r>
              <a:rPr lang="nl-NL" dirty="0" err="1"/>
              <a:t>dpm:DataObjectMutation</a:t>
            </a:r>
            <a:r>
              <a:rPr lang="nl-NL" dirty="0"/>
              <a:t> muteert precies één </a:t>
            </a:r>
            <a:r>
              <a:rPr lang="nl-NL" dirty="0" err="1"/>
              <a:t>dpm:DataObjectInContext</a:t>
            </a:r>
            <a:r>
              <a:rPr lang="nl-NL" dirty="0"/>
              <a:t>. Daarnaast zal een </a:t>
            </a:r>
            <a:r>
              <a:rPr lang="nl-NL" dirty="0" err="1"/>
              <a:t>dpm:DataObjectMutation</a:t>
            </a:r>
            <a:r>
              <a:rPr lang="nl-NL" dirty="0"/>
              <a:t> hetzij de productie van een </a:t>
            </a:r>
            <a:r>
              <a:rPr lang="nl-NL" dirty="0" err="1"/>
              <a:t>dpm:DataObjectState</a:t>
            </a:r>
            <a:r>
              <a:rPr lang="nl-NL" dirty="0"/>
              <a:t> betreffen, dan wel het invalideren van een bepaalde </a:t>
            </a:r>
            <a:r>
              <a:rPr lang="nl-NL" dirty="0" err="1"/>
              <a:t>dpm:DataObjectState</a:t>
            </a:r>
            <a:r>
              <a:rPr lang="nl-NL" dirty="0"/>
              <a:t>.</a:t>
            </a:r>
          </a:p>
          <a:p>
            <a:pPr marL="0" indent="0">
              <a:buNone/>
            </a:pPr>
            <a:br>
              <a:rPr lang="nl-NL" dirty="0"/>
            </a:br>
            <a:r>
              <a:rPr lang="nl-NL" dirty="0"/>
              <a:t>Een </a:t>
            </a:r>
            <a:r>
              <a:rPr lang="nl-NL" dirty="0" err="1"/>
              <a:t>dpm:DataObjectMutation</a:t>
            </a:r>
            <a:r>
              <a:rPr lang="nl-NL" dirty="0"/>
              <a:t> hoort bij een </a:t>
            </a:r>
            <a:r>
              <a:rPr lang="nl-NL" b="1" dirty="0" err="1"/>
              <a:t>dpm:DataTransaction</a:t>
            </a:r>
            <a:r>
              <a:rPr lang="nl-NL" dirty="0"/>
              <a:t>. Deze gegevenstransactie betreft de verzameling van </a:t>
            </a:r>
            <a:r>
              <a:rPr lang="nl-NL" dirty="0" err="1"/>
              <a:t>dataobjectmutaties</a:t>
            </a:r>
            <a:r>
              <a:rPr lang="nl-NL" dirty="0"/>
              <a:t> die "gelijktijdig" worden uitgevoerd. Hierbij is zowel een start als een eindmoment  opgenomen. Idealiter is het start- en eindmoment gelijk, waarbij ook technisch sprake is van gelijktijdigheid. In de praktijk kan het voorkomen dat de </a:t>
            </a:r>
            <a:r>
              <a:rPr lang="nl-NL" dirty="0" err="1"/>
              <a:t>dataobjectmutaties</a:t>
            </a:r>
            <a:r>
              <a:rPr lang="nl-NL" dirty="0"/>
              <a:t> niet daadwerkelijk op hetzelfde moment worden uitgevoerd, waarbij gedurende de transactie sprake kan zijn van een (tijdelijk) inconsistente toestand.</a:t>
            </a:r>
          </a:p>
          <a:p>
            <a:pPr marL="0" indent="0">
              <a:buNone/>
            </a:pPr>
            <a:br>
              <a:rPr lang="nl-NL" dirty="0"/>
            </a:br>
            <a:r>
              <a:rPr lang="nl-NL" dirty="0"/>
              <a:t>Een </a:t>
            </a:r>
            <a:r>
              <a:rPr lang="nl-NL" dirty="0" err="1"/>
              <a:t>dpm:DataTransaction</a:t>
            </a:r>
            <a:r>
              <a:rPr lang="nl-NL" dirty="0"/>
              <a:t> is onderdeel van een </a:t>
            </a:r>
            <a:r>
              <a:rPr lang="nl-NL" b="1" dirty="0" err="1"/>
              <a:t>dpm:WorkItem</a:t>
            </a:r>
            <a:r>
              <a:rPr lang="nl-NL" dirty="0"/>
              <a:t>. Dit </a:t>
            </a:r>
            <a:r>
              <a:rPr lang="nl-NL" dirty="0" err="1"/>
              <a:t>dpm:WorkItem</a:t>
            </a:r>
            <a:r>
              <a:rPr lang="nl-NL" dirty="0"/>
              <a:t> is de generalisatie van een </a:t>
            </a:r>
            <a:r>
              <a:rPr lang="nl-NL" dirty="0" err="1"/>
              <a:t>dpm:Case</a:t>
            </a:r>
            <a:r>
              <a:rPr lang="nl-NL" dirty="0"/>
              <a:t> en de </a:t>
            </a:r>
            <a:r>
              <a:rPr lang="nl-NL" dirty="0" err="1"/>
              <a:t>dpm:Activity</a:t>
            </a:r>
            <a:r>
              <a:rPr lang="nl-NL" dirty="0"/>
              <a:t> die hier binnen valt. Over het algemeen zal een </a:t>
            </a:r>
            <a:r>
              <a:rPr lang="nl-NL" dirty="0" err="1"/>
              <a:t>dpm:DataTransaction</a:t>
            </a:r>
            <a:r>
              <a:rPr lang="nl-NL" dirty="0"/>
              <a:t> binnen een </a:t>
            </a:r>
            <a:r>
              <a:rPr lang="nl-NL" dirty="0" err="1"/>
              <a:t>dpm:Activity</a:t>
            </a:r>
            <a:r>
              <a:rPr lang="nl-NL" dirty="0"/>
              <a:t> vallen (de gegevensverwerking vindt plaats als onderdeel van de activiteit), maar gegevensverwerkingen die enkel en alleen op de zaak betrekking hebben kan ook.</a:t>
            </a:r>
          </a:p>
          <a:p>
            <a:pPr marL="0" indent="0">
              <a:buNone/>
            </a:pPr>
            <a:endParaRPr lang="nl-NL" dirty="0"/>
          </a:p>
        </p:txBody>
      </p:sp>
      <p:pic>
        <p:nvPicPr>
          <p:cNvPr id="4" name="Afbeelding 3">
            <a:extLst>
              <a:ext uri="{FF2B5EF4-FFF2-40B4-BE49-F238E27FC236}">
                <a16:creationId xmlns:a16="http://schemas.microsoft.com/office/drawing/2014/main" id="{74876638-0072-462D-8D93-9735F2C9ADDA}"/>
              </a:ext>
            </a:extLst>
          </p:cNvPr>
          <p:cNvPicPr>
            <a:picLocks noChangeAspect="1"/>
          </p:cNvPicPr>
          <p:nvPr/>
        </p:nvPicPr>
        <p:blipFill>
          <a:blip r:embed="rId2"/>
          <a:stretch>
            <a:fillRect/>
          </a:stretch>
        </p:blipFill>
        <p:spPr>
          <a:xfrm>
            <a:off x="7236430" y="1196752"/>
            <a:ext cx="4456562" cy="3670110"/>
          </a:xfrm>
          <a:prstGeom prst="rect">
            <a:avLst/>
          </a:prstGeom>
        </p:spPr>
      </p:pic>
    </p:spTree>
    <p:extLst>
      <p:ext uri="{BB962C8B-B14F-4D97-AF65-F5344CB8AC3E}">
        <p14:creationId xmlns:p14="http://schemas.microsoft.com/office/powerpoint/2010/main" val="2483166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4B0AF0-2F32-4CB2-9604-D27637BD0A02}"/>
              </a:ext>
            </a:extLst>
          </p:cNvPr>
          <p:cNvSpPr>
            <a:spLocks noGrp="1"/>
          </p:cNvSpPr>
          <p:nvPr>
            <p:ph type="title"/>
          </p:nvPr>
        </p:nvSpPr>
        <p:spPr/>
        <p:txBody>
          <a:bodyPr>
            <a:normAutofit fontScale="90000"/>
          </a:bodyPr>
          <a:lstStyle/>
          <a:p>
            <a:r>
              <a:rPr lang="en-US" dirty="0"/>
              <a:t>Templates</a:t>
            </a:r>
            <a:endParaRPr lang="nl-NL" dirty="0"/>
          </a:p>
        </p:txBody>
      </p:sp>
      <p:sp>
        <p:nvSpPr>
          <p:cNvPr id="3" name="Ondertitel 2">
            <a:extLst>
              <a:ext uri="{FF2B5EF4-FFF2-40B4-BE49-F238E27FC236}">
                <a16:creationId xmlns:a16="http://schemas.microsoft.com/office/drawing/2014/main" id="{6645108A-A55A-4C69-8C25-B669C6F7E2DD}"/>
              </a:ext>
            </a:extLst>
          </p:cNvPr>
          <p:cNvSpPr>
            <a:spLocks noGrp="1"/>
          </p:cNvSpPr>
          <p:nvPr>
            <p:ph type="subTitle" idx="1"/>
          </p:nvPr>
        </p:nvSpPr>
        <p:spPr>
          <a:xfrm>
            <a:off x="623392" y="1196752"/>
            <a:ext cx="4757261" cy="4680520"/>
          </a:xfrm>
        </p:spPr>
        <p:txBody>
          <a:bodyPr>
            <a:normAutofit fontScale="47500" lnSpcReduction="20000"/>
          </a:bodyPr>
          <a:lstStyle/>
          <a:p>
            <a:pPr marL="0" indent="0">
              <a:buNone/>
            </a:pPr>
            <a:r>
              <a:rPr lang="nl-NL" dirty="0"/>
              <a:t>Merk op dat een </a:t>
            </a:r>
            <a:r>
              <a:rPr lang="nl-NL" dirty="0" err="1"/>
              <a:t>dpm:DataObjectInContext</a:t>
            </a:r>
            <a:r>
              <a:rPr lang="nl-NL" dirty="0"/>
              <a:t> op één moment in tijd meerdere </a:t>
            </a:r>
            <a:r>
              <a:rPr lang="nl-NL" dirty="0" err="1"/>
              <a:t>dpm:DataObjectStates</a:t>
            </a:r>
            <a:r>
              <a:rPr lang="nl-NL" dirty="0"/>
              <a:t> kan hebben die allen actief zijn. Een </a:t>
            </a:r>
            <a:r>
              <a:rPr lang="nl-NL" dirty="0" err="1"/>
              <a:t>dpm:DataObjectState</a:t>
            </a:r>
            <a:r>
              <a:rPr lang="nl-NL" dirty="0"/>
              <a:t> kent namelijk een "template". </a:t>
            </a:r>
            <a:br>
              <a:rPr lang="nl-NL" dirty="0"/>
            </a:br>
            <a:br>
              <a:rPr lang="nl-NL" dirty="0"/>
            </a:br>
            <a:r>
              <a:rPr lang="nl-NL" dirty="0"/>
              <a:t>Meerdere templates kunnen gelijktijdig actief zijn. Bijvoorbeeld een template identificerende persoonsgegevens, naast een template medische persoonsgegevens en een template contactgegevens, </a:t>
            </a:r>
            <a:r>
              <a:rPr lang="nl-NL" dirty="0" err="1"/>
              <a:t>etc</a:t>
            </a:r>
            <a:r>
              <a:rPr lang="nl-NL" dirty="0"/>
              <a:t>, </a:t>
            </a:r>
            <a:r>
              <a:rPr lang="nl-NL" dirty="0" err="1"/>
              <a:t>etc</a:t>
            </a:r>
            <a:r>
              <a:rPr lang="nl-NL" dirty="0"/>
              <a:t>: allemaal gegevens over dezelfde persoon, maar wel steeds een ander "groepje" eigenschappen</a:t>
            </a:r>
          </a:p>
        </p:txBody>
      </p:sp>
      <p:pic>
        <p:nvPicPr>
          <p:cNvPr id="5" name="Afbeelding 4">
            <a:extLst>
              <a:ext uri="{FF2B5EF4-FFF2-40B4-BE49-F238E27FC236}">
                <a16:creationId xmlns:a16="http://schemas.microsoft.com/office/drawing/2014/main" id="{B73DECCC-887D-4C28-9998-319BC038B0E5}"/>
              </a:ext>
            </a:extLst>
          </p:cNvPr>
          <p:cNvPicPr>
            <a:picLocks noChangeAspect="1"/>
          </p:cNvPicPr>
          <p:nvPr/>
        </p:nvPicPr>
        <p:blipFill>
          <a:blip r:embed="rId2"/>
          <a:stretch>
            <a:fillRect/>
          </a:stretch>
        </p:blipFill>
        <p:spPr>
          <a:xfrm>
            <a:off x="6096000" y="507844"/>
            <a:ext cx="4456562" cy="688908"/>
          </a:xfrm>
          <a:prstGeom prst="rect">
            <a:avLst/>
          </a:prstGeom>
        </p:spPr>
      </p:pic>
      <p:pic>
        <p:nvPicPr>
          <p:cNvPr id="6" name="Afbeelding 5">
            <a:extLst>
              <a:ext uri="{FF2B5EF4-FFF2-40B4-BE49-F238E27FC236}">
                <a16:creationId xmlns:a16="http://schemas.microsoft.com/office/drawing/2014/main" id="{531F957A-D576-49C2-BE8F-C9C775BC3060}"/>
              </a:ext>
            </a:extLst>
          </p:cNvPr>
          <p:cNvPicPr>
            <a:picLocks noChangeAspect="1"/>
          </p:cNvPicPr>
          <p:nvPr/>
        </p:nvPicPr>
        <p:blipFill>
          <a:blip r:embed="rId3"/>
          <a:stretch>
            <a:fillRect/>
          </a:stretch>
        </p:blipFill>
        <p:spPr>
          <a:xfrm>
            <a:off x="6096000" y="2472163"/>
            <a:ext cx="4456562" cy="3170195"/>
          </a:xfrm>
          <a:prstGeom prst="rect">
            <a:avLst/>
          </a:prstGeom>
        </p:spPr>
      </p:pic>
    </p:spTree>
    <p:extLst>
      <p:ext uri="{BB962C8B-B14F-4D97-AF65-F5344CB8AC3E}">
        <p14:creationId xmlns:p14="http://schemas.microsoft.com/office/powerpoint/2010/main" val="3897802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250532-CD13-4FD1-8A66-8E7554194E6E}"/>
              </a:ext>
            </a:extLst>
          </p:cNvPr>
          <p:cNvSpPr>
            <a:spLocks noGrp="1"/>
          </p:cNvSpPr>
          <p:nvPr>
            <p:ph type="title"/>
          </p:nvPr>
        </p:nvSpPr>
        <p:spPr/>
        <p:txBody>
          <a:bodyPr>
            <a:normAutofit fontScale="90000"/>
          </a:bodyPr>
          <a:lstStyle/>
          <a:p>
            <a:r>
              <a:rPr lang="en-US" dirty="0" err="1"/>
              <a:t>Hergebruik</a:t>
            </a:r>
            <a:endParaRPr lang="nl-NL" dirty="0"/>
          </a:p>
        </p:txBody>
      </p:sp>
      <p:sp>
        <p:nvSpPr>
          <p:cNvPr id="3" name="Ondertitel 2">
            <a:extLst>
              <a:ext uri="{FF2B5EF4-FFF2-40B4-BE49-F238E27FC236}">
                <a16:creationId xmlns:a16="http://schemas.microsoft.com/office/drawing/2014/main" id="{C48D624D-1DEC-4159-A39C-E87ADD830672}"/>
              </a:ext>
            </a:extLst>
          </p:cNvPr>
          <p:cNvSpPr>
            <a:spLocks noGrp="1"/>
          </p:cNvSpPr>
          <p:nvPr>
            <p:ph type="subTitle" idx="1"/>
          </p:nvPr>
        </p:nvSpPr>
        <p:spPr>
          <a:xfrm>
            <a:off x="623393" y="1196752"/>
            <a:ext cx="5576954" cy="1434616"/>
          </a:xfrm>
        </p:spPr>
        <p:txBody>
          <a:bodyPr>
            <a:normAutofit fontScale="32500" lnSpcReduction="20000"/>
          </a:bodyPr>
          <a:lstStyle/>
          <a:p>
            <a:pPr marL="0" indent="0">
              <a:buNone/>
            </a:pPr>
            <a:r>
              <a:rPr lang="nl-NL" dirty="0"/>
              <a:t>De "eenvoudige" weg is het </a:t>
            </a:r>
            <a:r>
              <a:rPr lang="nl-NL" b="1" dirty="0"/>
              <a:t>simpelweg in context </a:t>
            </a:r>
            <a:r>
              <a:rPr lang="nl-NL" dirty="0"/>
              <a:t>brengen van een </a:t>
            </a:r>
            <a:r>
              <a:rPr lang="nl-NL" dirty="0" err="1"/>
              <a:t>dpm:DataObject</a:t>
            </a:r>
            <a:r>
              <a:rPr lang="nl-NL" dirty="0"/>
              <a:t>, daarmee zal alle </a:t>
            </a:r>
            <a:r>
              <a:rPr lang="nl-NL" dirty="0" err="1"/>
              <a:t>dpm:DataObjectStates</a:t>
            </a:r>
            <a:r>
              <a:rPr lang="nl-NL" dirty="0"/>
              <a:t> die gaan over dit dataobject beschikbaar voor hergebruik, mits natuurlijk de betreffende persoon toegang heeft tot de autorisatiecontainers waar deze </a:t>
            </a:r>
            <a:r>
              <a:rPr lang="nl-NL" dirty="0" err="1"/>
              <a:t>dpm:DataObjectStates</a:t>
            </a:r>
            <a:r>
              <a:rPr lang="nl-NL" dirty="0"/>
              <a:t> bij horen</a:t>
            </a:r>
          </a:p>
        </p:txBody>
      </p:sp>
      <p:pic>
        <p:nvPicPr>
          <p:cNvPr id="4" name="Afbeelding 3">
            <a:extLst>
              <a:ext uri="{FF2B5EF4-FFF2-40B4-BE49-F238E27FC236}">
                <a16:creationId xmlns:a16="http://schemas.microsoft.com/office/drawing/2014/main" id="{B69F5D73-4146-407E-8CA7-F7A58399D262}"/>
              </a:ext>
            </a:extLst>
          </p:cNvPr>
          <p:cNvPicPr>
            <a:picLocks noChangeAspect="1"/>
          </p:cNvPicPr>
          <p:nvPr/>
        </p:nvPicPr>
        <p:blipFill>
          <a:blip r:embed="rId2"/>
          <a:stretch>
            <a:fillRect/>
          </a:stretch>
        </p:blipFill>
        <p:spPr>
          <a:xfrm>
            <a:off x="6309742" y="433656"/>
            <a:ext cx="5382053" cy="2598995"/>
          </a:xfrm>
          <a:prstGeom prst="rect">
            <a:avLst/>
          </a:prstGeom>
        </p:spPr>
      </p:pic>
      <p:sp>
        <p:nvSpPr>
          <p:cNvPr id="5" name="Ondertitel 2">
            <a:extLst>
              <a:ext uri="{FF2B5EF4-FFF2-40B4-BE49-F238E27FC236}">
                <a16:creationId xmlns:a16="http://schemas.microsoft.com/office/drawing/2014/main" id="{B6ABA9FE-8160-4800-9CA6-E57B4DC66E07}"/>
              </a:ext>
            </a:extLst>
          </p:cNvPr>
          <p:cNvSpPr txBox="1">
            <a:spLocks/>
          </p:cNvSpPr>
          <p:nvPr/>
        </p:nvSpPr>
        <p:spPr>
          <a:xfrm>
            <a:off x="555740" y="3191670"/>
            <a:ext cx="11289213" cy="2170303"/>
          </a:xfrm>
          <a:prstGeom prst="rect">
            <a:avLst/>
          </a:prstGeom>
          <a:noFill/>
        </p:spPr>
        <p:txBody>
          <a:bodyPr vert="horz" lIns="180000" tIns="90000" rIns="91440" bIns="90000" rtlCol="0">
            <a:noAutofit/>
          </a:bodyPr>
          <a:lstStyle>
            <a:lvl1pPr marL="609585" indent="-609585" algn="l" defTabSz="1219170" rtl="0" eaLnBrk="1" latinLnBrk="0" hangingPunct="1">
              <a:spcBef>
                <a:spcPct val="20000"/>
              </a:spcBef>
              <a:buFont typeface="+mj-lt"/>
              <a:buAutoNum type="arabicPeriod"/>
              <a:defRPr sz="4267" kern="1200">
                <a:solidFill>
                  <a:srgbClr val="004682"/>
                </a:solidFill>
                <a:latin typeface="Arial" panose="020B0604020202020204" pitchFamily="34" charset="0"/>
                <a:ea typeface="+mn-ea"/>
                <a:cs typeface="Arial" panose="020B0604020202020204" pitchFamily="34" charset="0"/>
              </a:defRPr>
            </a:lvl1pPr>
            <a:lvl2pPr marL="1219170" indent="-609585" algn="l" defTabSz="1219170" rtl="0" eaLnBrk="1" latinLnBrk="0" hangingPunct="1">
              <a:spcBef>
                <a:spcPct val="20000"/>
              </a:spcBef>
              <a:buFont typeface="Wingdings" panose="05000000000000000000" pitchFamily="2" charset="2"/>
              <a:buChar char="§"/>
              <a:defRPr sz="3733" kern="1200">
                <a:solidFill>
                  <a:srgbClr val="004682"/>
                </a:solidFill>
                <a:latin typeface="+mn-lt"/>
                <a:ea typeface="+mn-ea"/>
                <a:cs typeface="+mn-cs"/>
              </a:defRPr>
            </a:lvl2pPr>
            <a:lvl3pPr marL="1523962" indent="-304792" algn="l" defTabSz="1219170" rtl="0" eaLnBrk="1" latinLnBrk="0" hangingPunct="1">
              <a:spcBef>
                <a:spcPct val="20000"/>
              </a:spcBef>
              <a:buFont typeface="Wingdings" panose="05000000000000000000" pitchFamily="2" charset="2"/>
              <a:buChar char="§"/>
              <a:defRPr sz="3200" kern="1200">
                <a:solidFill>
                  <a:srgbClr val="004682"/>
                </a:solidFill>
                <a:latin typeface="+mn-lt"/>
                <a:ea typeface="+mn-ea"/>
                <a:cs typeface="+mn-cs"/>
              </a:defRPr>
            </a:lvl3pPr>
            <a:lvl4pPr marL="2133547" indent="-304792" algn="l" defTabSz="1219170" rtl="0" eaLnBrk="1" latinLnBrk="0" hangingPunct="1">
              <a:spcBef>
                <a:spcPct val="20000"/>
              </a:spcBef>
              <a:buFont typeface="Arial" panose="020B0604020202020204" pitchFamily="34" charset="0"/>
              <a:buChar char="-"/>
              <a:defRPr sz="2667" kern="1200">
                <a:solidFill>
                  <a:srgbClr val="004682"/>
                </a:solidFill>
                <a:latin typeface="+mn-lt"/>
                <a:ea typeface="+mn-ea"/>
                <a:cs typeface="+mn-cs"/>
              </a:defRPr>
            </a:lvl4pPr>
            <a:lvl5pPr marL="2743131" indent="-304792" algn="l" defTabSz="1219170" rtl="0" eaLnBrk="1" latinLnBrk="0" hangingPunct="1">
              <a:spcBef>
                <a:spcPct val="20000"/>
              </a:spcBef>
              <a:buFont typeface="Arial" panose="020B0604020202020204" pitchFamily="34" charset="0"/>
              <a:buChar char="»"/>
              <a:defRPr sz="2667" kern="1200">
                <a:solidFill>
                  <a:srgbClr val="004682"/>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Font typeface="+mj-lt"/>
              <a:buNone/>
            </a:pPr>
            <a:r>
              <a:rPr lang="nl-NL" sz="1400" dirty="0"/>
              <a:t>Het is echter ook mogelijk om </a:t>
            </a:r>
            <a:r>
              <a:rPr lang="nl-NL" sz="1400" b="1" dirty="0"/>
              <a:t>een specifieke </a:t>
            </a:r>
            <a:r>
              <a:rPr lang="nl-NL" sz="1400" b="1" dirty="0" err="1"/>
              <a:t>dpm:DataObjectInContext</a:t>
            </a:r>
            <a:r>
              <a:rPr lang="nl-NL" sz="1400" b="1" dirty="0"/>
              <a:t> </a:t>
            </a:r>
            <a:r>
              <a:rPr lang="nl-NL" sz="1400" dirty="0"/>
              <a:t>uit een andere autorisatiecontainer te volgen (mits het natuurlijk over hetzelfde </a:t>
            </a:r>
            <a:r>
              <a:rPr lang="nl-NL" sz="1400" dirty="0" err="1"/>
              <a:t>dpm:DataObject</a:t>
            </a:r>
            <a:r>
              <a:rPr lang="nl-NL" sz="1400" dirty="0"/>
              <a:t> gaat). Hiervoor is de </a:t>
            </a:r>
            <a:r>
              <a:rPr lang="nl-NL" sz="1400" dirty="0" err="1"/>
              <a:t>dpm:DataObjectAssociation</a:t>
            </a:r>
            <a:r>
              <a:rPr lang="nl-NL" sz="1400" dirty="0"/>
              <a:t> bedoeld. Nog steeds geldt het basisuitgangspunt hierboven, maar in dit geval stel je een specifieke </a:t>
            </a:r>
            <a:r>
              <a:rPr lang="nl-NL" sz="1400" dirty="0" err="1"/>
              <a:t>dpm:DataObjectInContext</a:t>
            </a:r>
            <a:r>
              <a:rPr lang="nl-NL" sz="1400" dirty="0"/>
              <a:t> als de "belangrijkste" om zicht op te hebben.</a:t>
            </a:r>
          </a:p>
          <a:p>
            <a:pPr marL="0" indent="0">
              <a:buFont typeface="+mj-lt"/>
              <a:buNone/>
            </a:pPr>
            <a:br>
              <a:rPr lang="nl-NL" sz="1400" dirty="0"/>
            </a:br>
            <a:r>
              <a:rPr lang="nl-NL" sz="1400" dirty="0"/>
              <a:t>Nog specifieker is om </a:t>
            </a:r>
            <a:r>
              <a:rPr lang="nl-NL" sz="1400" b="1" dirty="0"/>
              <a:t>een bepaalde groep van </a:t>
            </a:r>
            <a:r>
              <a:rPr lang="nl-NL" sz="1400" b="1" dirty="0" err="1"/>
              <a:t>dpm:DataObjectStates</a:t>
            </a:r>
            <a:r>
              <a:rPr lang="nl-NL" sz="1400" b="1" dirty="0"/>
              <a:t> te volgen </a:t>
            </a:r>
            <a:r>
              <a:rPr lang="nl-NL" sz="1400" dirty="0"/>
              <a:t>(via </a:t>
            </a:r>
            <a:r>
              <a:rPr lang="nl-NL" sz="1400" dirty="0" err="1"/>
              <a:t>dpm:dependsOnAll</a:t>
            </a:r>
            <a:r>
              <a:rPr lang="nl-NL" sz="1400" dirty="0"/>
              <a:t>). In dat geval volg je specifiek alle </a:t>
            </a:r>
            <a:r>
              <a:rPr lang="nl-NL" sz="1400" dirty="0" err="1"/>
              <a:t>dpm:DataObjectStates</a:t>
            </a:r>
            <a:r>
              <a:rPr lang="nl-NL" sz="1400" dirty="0"/>
              <a:t> (van één </a:t>
            </a:r>
            <a:r>
              <a:rPr lang="nl-NL" sz="1400" dirty="0" err="1"/>
              <a:t>dpm:DataObjectinContext</a:t>
            </a:r>
            <a:r>
              <a:rPr lang="nl-NL" sz="1400" dirty="0"/>
              <a:t>) die tot hetzelfde template behoren. De </a:t>
            </a:r>
            <a:r>
              <a:rPr lang="nl-NL" sz="1400" dirty="0" err="1"/>
              <a:t>dpm:DataObjectState</a:t>
            </a:r>
            <a:r>
              <a:rPr lang="nl-NL" sz="1400" dirty="0"/>
              <a:t> van "jouzelf" bevat op dat moment dus geen eigen gegevens, maar is slechts een </a:t>
            </a:r>
            <a:r>
              <a:rPr lang="nl-NL" sz="1400" dirty="0" err="1"/>
              <a:t>shortcut</a:t>
            </a:r>
            <a:r>
              <a:rPr lang="nl-NL" sz="1400" dirty="0"/>
              <a:t> naar de (actuele) status in een andere autorisatiecontainer. Je moet daar dus dan wel toegang toe hebben!</a:t>
            </a:r>
          </a:p>
          <a:p>
            <a:pPr marL="0" indent="0">
              <a:buFont typeface="+mj-lt"/>
              <a:buNone/>
            </a:pPr>
            <a:endParaRPr lang="nl-NL" sz="1400" dirty="0"/>
          </a:p>
          <a:p>
            <a:pPr marL="0" indent="0">
              <a:buFont typeface="+mj-lt"/>
              <a:buNone/>
            </a:pPr>
            <a:r>
              <a:rPr lang="nl-NL" sz="1400" dirty="0"/>
              <a:t>De meest specifieke situaties is om expliciet </a:t>
            </a:r>
            <a:r>
              <a:rPr lang="nl-NL" sz="1400" b="1" dirty="0"/>
              <a:t>te verwijzen naar een specifieke </a:t>
            </a:r>
            <a:r>
              <a:rPr lang="nl-NL" sz="1400" b="1" dirty="0" err="1"/>
              <a:t>dpm:DataObjectState</a:t>
            </a:r>
            <a:r>
              <a:rPr lang="nl-NL" sz="1400" b="1" dirty="0"/>
              <a:t> </a:t>
            </a:r>
            <a:r>
              <a:rPr lang="nl-NL" sz="1400" dirty="0"/>
              <a:t>(via </a:t>
            </a:r>
            <a:r>
              <a:rPr lang="nl-NL" sz="1400" dirty="0" err="1"/>
              <a:t>dpm:dependsOnSelected</a:t>
            </a:r>
            <a:r>
              <a:rPr lang="nl-NL" sz="1400" dirty="0"/>
              <a:t>). Dit komt feitelijk neer op een "logische kopie", met dat verschil dat je wel toegang moet hebben tot de autorisatiecontainer van de ander om de inhoud te kunnen zien.</a:t>
            </a:r>
          </a:p>
        </p:txBody>
      </p:sp>
    </p:spTree>
    <p:extLst>
      <p:ext uri="{BB962C8B-B14F-4D97-AF65-F5344CB8AC3E}">
        <p14:creationId xmlns:p14="http://schemas.microsoft.com/office/powerpoint/2010/main" val="1553568461"/>
      </p:ext>
    </p:extLst>
  </p:cSld>
  <p:clrMapOvr>
    <a:masterClrMapping/>
  </p:clrMapOvr>
</p:sld>
</file>

<file path=ppt/theme/theme1.xml><?xml version="1.0" encoding="utf-8"?>
<a:theme xmlns:a="http://schemas.openxmlformats.org/drawingml/2006/main" name="NP sjabloon 2010-2013">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bwMode="auto">
        <a:solidFill>
          <a:schemeClr val="bg1"/>
        </a:solidFill>
        <a:ln w="12700">
          <a:noFill/>
          <a:miter lim="800000"/>
          <a:headEnd/>
          <a:tailEnd/>
        </a:ln>
        <a:effectLst>
          <a:outerShdw blurRad="635000" dist="254000" dir="2700000" algn="ctr" rotWithShape="0">
            <a:srgbClr val="D9E3ED"/>
          </a:outerShdw>
        </a:effectLst>
      </a:spPr>
      <a:bodyPr lIns="540000" anchor="ctr"/>
      <a:lstStyle>
        <a:defPPr eaLnBrk="1" hangingPunct="1">
          <a:spcBef>
            <a:spcPct val="50000"/>
          </a:spcBef>
          <a:defRPr sz="9600" b="1" dirty="0" smtClean="0">
            <a:solidFill>
              <a:srgbClr val="004682"/>
            </a:solidFill>
            <a:latin typeface="Arial" charset="0"/>
          </a:defRPr>
        </a:defPPr>
      </a:lstStyle>
    </a:txDef>
  </a:objectDefaults>
  <a:extraClrScheme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 teksttitel 16-9</Template>
  <TotalTime>0</TotalTime>
  <Words>1888</Words>
  <Application>Microsoft Office PowerPoint</Application>
  <PresentationFormat>Breedbeeld</PresentationFormat>
  <Paragraphs>71</Paragraphs>
  <Slides>15</Slides>
  <Notes>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15</vt:i4>
      </vt:variant>
    </vt:vector>
  </HeadingPairs>
  <TitlesOfParts>
    <vt:vector size="20" baseType="lpstr">
      <vt:lpstr>-apple-system</vt:lpstr>
      <vt:lpstr>Arial</vt:lpstr>
      <vt:lpstr>Calibri</vt:lpstr>
      <vt:lpstr>Wingdings</vt:lpstr>
      <vt:lpstr>NP sjabloon 2010-2013</vt:lpstr>
      <vt:lpstr>Het VWM</vt:lpstr>
      <vt:lpstr>Achtergrond VWM</vt:lpstr>
      <vt:lpstr>Informatieprincipes bij het verwerkingsmodel </vt:lpstr>
      <vt:lpstr>Ontwerpbeslissingen</vt:lpstr>
      <vt:lpstr>PowerPoint-presentatie</vt:lpstr>
      <vt:lpstr>De sleutelring</vt:lpstr>
      <vt:lpstr> Dataobjecten bestaan ALTIJD in de context van een autorisatiecontainer </vt:lpstr>
      <vt:lpstr>Work Data Object</vt:lpstr>
      <vt:lpstr>(Autorisatie) Context</vt:lpstr>
      <vt:lpstr>De autorisatiecontext wordt bepaald vanuit de werkcontext (de verwerking)</vt:lpstr>
      <vt:lpstr>Dingen in de werkelijkheid' kennen meerdere beschrijvingen (multi-realiteit) </vt:lpstr>
      <vt:lpstr>dmp:DataObjectState = In detail</vt:lpstr>
      <vt:lpstr>Mutatiecontext </vt:lpstr>
      <vt:lpstr>Templates</vt:lpstr>
      <vt:lpstr>Hergebruik</vt:lpstr>
    </vt:vector>
  </TitlesOfParts>
  <Company>Politie Nederland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Informatiehuishouding op orde</dc:title>
  <dc:creator>Dijkstra, Margot (M.A.) -B</dc:creator>
  <cp:lastModifiedBy>Stolk, Hans, Johannes (J.)</cp:lastModifiedBy>
  <cp:revision>92</cp:revision>
  <dcterms:created xsi:type="dcterms:W3CDTF">2021-02-22T07:43:27Z</dcterms:created>
  <dcterms:modified xsi:type="dcterms:W3CDTF">2023-05-04T12:17:39Z</dcterms:modified>
</cp:coreProperties>
</file>